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32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869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8288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VISUAL STORYBOARD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Handling the Heat: De-escalation Scenarios for Customer-Facing Teams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30 screens · 4 branching scenarios · Built in PowerPoint with hyperlinked navigation · No audio narration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13A4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3F2"/>
                </a:solidFill>
                <a:ea typeface="Calibri" pitchFamily="34" charset="-122"/>
                <a:cs typeface="Calibri" pitchFamily="34" charset="-120"/>
              </a:rPr>
              <a:t>Dark Teal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51760" y="4846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1752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3F2"/>
                </a:solidFill>
                <a:ea typeface="Calibri" pitchFamily="34" charset="-122"/>
                <a:cs typeface="Calibri" pitchFamily="34" charset="-120"/>
              </a:rPr>
              <a:t>Primary Teal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4846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3F2"/>
                </a:solidFill>
                <a:ea typeface="Calibri" pitchFamily="34" charset="-122"/>
                <a:cs typeface="Calibri" pitchFamily="34" charset="-120"/>
              </a:rPr>
              <a:t>Mint Accent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4846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7512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3F2"/>
                </a:solidFill>
                <a:ea typeface="Calibri" pitchFamily="34" charset="-122"/>
                <a:cs typeface="Calibri" pitchFamily="34" charset="-120"/>
              </a:rPr>
              <a:t>Orange CTA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4846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C0000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0392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3F2"/>
                </a:solidFill>
                <a:ea typeface="Calibri" pitchFamily="34" charset="-122"/>
                <a:cs typeface="Calibri" pitchFamily="34" charset="-120"/>
              </a:rPr>
              <a:t>Poor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966960" y="484632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33272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4F3F2"/>
                </a:solidFill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Title Screen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1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013A40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0A4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HANDLING THE HEAT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De-escalation Scenarios for Customer-Facing Teams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An interactive branching-scenario course. Every choice you make changes what happens next.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Begin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Dark teal full-bleed background. Small orange eyebrow label top-left. Large bold serif headline, sub-line below in muted white. Orange 'Begin' button lower-left.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Click Begin to enter the course.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Begin → Screen 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No audio. Course title slide; sets tone and visual identity (dark teal + orange).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How This Course Works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2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How this Course Works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1. Read the scenario — Meet a customer and the situation they're bringing to you.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2. Choose the response — Click one of three responses; some choices work better than others.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3. See what happens — Get honest feedback on why a response helped or hurt.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4. Try again if needed — Weaker choices send you back to try again, no penalty.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Click here to continue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Light background. Four numbered rows (1-4), each with a bold heading and a short description line, laid out in a 2x2 or stacked grid.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Click Continue to proceed. No branching on this screen — orientation only.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Continue → Screen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Purely instructional; establishes the rules of engagement before objectives.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3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By the end of this course, you'll be able to: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• Recognize the difference between reacting to a customer and responding to them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• Acknowledge a customer's emotions before jumping to a fix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• Take ownership of a problem instead of deflecting or passing it along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• Hold a policy boundary firmly while still offering the customer a way forward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Click here to continue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Light background. Title top-left, four objective bars/rows stacked vertically, each in a colored highlight bar for scannability.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Click Continue to proceed.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Continue → Screen 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Standard objectives screen. No interactivity beyond linear continue.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C.A.L.M. 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4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013A40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0A4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Keep C.A.L.M.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You'll see this pattern in every scenario ahead.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C — Center Yourself: Pause before you respond. Your tone matters as much as your words.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A — Acknowledge: Name what the customer is feeling before you move to a solution.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L — Listen Fully: Let them finish. Don't plan your rebuttal while they're still talking.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M — Move Forward: Offer a concrete next step — together, not at them.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Click here to continue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Dark teal background. Four equal-width cards in a row, each with a large circular letter badge (C/A/L/M), a bold title, and a short description.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Click Continue to proceed.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Continue → Screen 5 (Scenario Menu)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This is the recurring mental model referenced in every debrief screen — keep iconography/lettering consistent throughout the deck.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Menu (Hub)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5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Choose Where to Start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Every path returns here, so feel free to explore them in any order.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01 The Angry Caller — A billing error, and a customer who's already raised his voice. [Start Scenario 1]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02 The Repeat Complainer — Third call, same issue — and fading patience. [Start Scenario 2]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03 The Unreasonable Request — A policy line, and a threat to walk away unhappy. [Start Scenario 3]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★ Final Challenge — Put every skill together in one live chat conversation. [Go to Final Challenge]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Light background. Four cards in a row, three light-teal-tinted, the Final Challenge card in dark teal to visually set it apart. Each card: number/star, title, one-line description, Start button.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Click any card's Start button to jump into that scenario. Non-linear hub — learner may take any order.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Start Scenario 1 → Screen 6 | Start Scenario 2 → Screen 12 | Start Scenario 3 → Screen 18 | Final Challenge → Screen 24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Every scenario debrief screen links back here, so this is the true 'home base' of the course. All 4 destinations must be live hyperlinks.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1 – Persona (The Angry Caller)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6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The Angry Caller — Scenario 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Jordan, Customer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Jordan calls in, upset about being billed twice for the same order.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“You people charged me twice! This is ridiculous — I want this fixed right now!”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Your Task: Read the situation, then choose how you'd respond in the moment. There's no perfect script — only choices that build trust, and choices that break it.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32888" y="585216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32888" y="58521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Begin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Light background. Left card: avatar circle with initial 'J', name/role, context line, quote in a speech-bubble box. Right column: 'Your Task' framing text.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Begin advances into the decision point. Scenario Menu returns to the hub at any time.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Begin → Screen 7 | Scenario Menu → Screen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Persona template reused for every scenario — only name, avatar initial, context, and quote change.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1 – Decision Point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7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How do you respond first?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“You people charged me twice! This is ridiculous — I want this fixed right now!”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A. “Sir, I need you to calm down so I can help you.”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B. “I can process a refund for you right now.”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C. “I hear how frustrating that is — I'd be upset too. Let's fix this together. Can you confirm the order number?”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Light background. Customer's line repeated in a dark banner at top for context. Three response options stacked as clickable cards, lettered A/B/C.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Learner clicks one of three response cards. Each choice routes to its own feedback screen.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A → Screen 8 | B → Screen 9 | C → Screen 10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Core branching decision. All three choice regions must be fully clickable hotspots, not just the letter badge.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1 – Feedback A (Not Quite)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8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A – Not Quite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“Sir, I need you to calm down so I can help you.”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Telling someone to “calm down” almost always backfires. It sounds dismissive, even when you mean well, and tends to make anger worse rather than better.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97864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Try again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03704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03704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NOT QUITE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Light background. Red 'Not Quite' badge top-right. Chosen response quoted in a box. Feedback explanation below in a highlighted panel. Red 'Try again' button.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Try Again returns to the decision point so the learner can pick a different response. Scenario Menu exits to hub.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Try again → Screen 7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Weak-choice feedback pattern (red badge + Try Again) is reused across all scenarios for the 'poor' option.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1 – Feedback B (Room to Improve)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9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B – Room to Improve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“I can process a refund for you right now.”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Solving the problem fast is a good instinct — but jumping straight to a fix without acknowledging how Jordan feels can come across as transactional. He may still feel unheard.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97864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Try again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03704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03704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ROOM TO IMPROVE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Same template as Feedback A, but badge and Try Again button in amber/gold to signal 'partial credit' rather than fully wrong.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Try Again returns to the decision point. Scenario Menu exits to hub.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Try again → Screen 7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Amber 'partial' feedback pattern reused across all scenarios for the middle option.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1 – Feedback C (Strong Response)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10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C – Strong Response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“I hear how frustrating that is — I'd be upset too. Let's fix this together. Can you confirm the order number?”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You acknowledged the emotion before moving to action. That lowers defensiveness and builds trust before you've even solved the problem.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Continue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21408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21408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STRONG RESPONSE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Same template, badge and button in teal/green 'Strong Response' styling. Continue button (not Try Again) since this is the correct path forward.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Continue advances to the scenario debrief. Scenario Menu exits to hub.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Continue → Screen 11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Only the 'best' choice unlocks forward progress — confirms this is the sole exit from the decision loop.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1 – Debrief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11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013A40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0A4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1: Debrief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ACKNOWLEDGE FIRST, THEN ACT.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Skipping straight to a solution can feel efficient, but it often leaves the customer feeling unheard. A brief acknowledgment costs you seconds and buys you trust.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Click here to continue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Dark teal background (matches Title/Framework screens — signals a 'milestone' moment). Bold takeaway headline, supporting paragraph below.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Continue advances to the next scenario. Scenario Menu returns to hub instead.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Continue → Screen 12 (Scenario 2) | Scenario Menu → Screen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Debrief template reused for every scenario — only headline/body text and destination change.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2 – Persona (The Repeat Complainer)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12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The Repeat Complainer — Scenario 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Priya, Customer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This is Priya's third call about the same unresolved shipping issue.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“This is the THIRD time I'm calling about this. Nobody has fixed it. Why should I believe you're any different?”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Your Task: Read the situation, then choose how you'd respond in the moment.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32888" y="585216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32888" y="58521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Begin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Same persona template as Screen 6, avatar initial 'P'.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Begin advances into the decision point. Scenario Menu returns to hub.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Begin → Screen 13 | Scenario Menu → Screen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2 – Decision Point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13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How do you respond first?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“This is the THIRD time I'm calling about this. Nobody has fixed it. Why should I believe you're any different?”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A. “I don't see any notes on your account — can you explain the issue again from the start?”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B. “I'm sorry about that. I'll pass this along to the right team.”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C. “I can see this has been frustrating. I'll personally follow up until it's resolved. Let me pull up your account now.”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Same decision template as Screen 7.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Learner clicks one of three response cards.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A → Screen 14 | B → Screen 15 | C → Screen 16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2 – Feedback A (Not Quite)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14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A – Not Quite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“I don't see any notes on your account — can you explain the issue again from the start?”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Asking Priya to repeat her story a third time reinforces exactly what she's upset about: feeling ignored and passed around.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97864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Try again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03704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03704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NOT QUITE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Red feedback template (same as Screen 8).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Try Again returns to decision point.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Try again → Screen 13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2 – Feedback B (Room to Improve)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15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B – Room to Improve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“I'm sorry about that. I'll pass this along to the right team.”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This is polite, but vague. “I'll pass it along” is the same promise that already failed twice — it won't rebuild trust on its own.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97864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Try again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03704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03704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ROOM TO IMPROVE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Amber feedback template (same as Screen 9).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Try Again returns to decision point.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Try again → Screen 13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2 – Feedback C (Strong Response)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16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C – Strong Response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“I can see this has been frustrating. I'll personally follow up until it's resolved. Let me pull up your account now.”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You took ownership and made a specific, personal commitment. That's what rebuilds trust after repeated failures.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Continue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21408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21408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STRONG RESPONSE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Teal/green feedback template (same as Screen 10).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Continue advances to debrief.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Continue → Screen 17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2 – Debrief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17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013A40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0A4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2: Debrief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OWNERSHIP BEATS APOLOGY.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When a customer has already been let down twice, a generic apology won't land. Specific commitments — and following through on them — are what rebuild trust.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Click here to continue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Dark teal debrief template (same as Screen 11).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Continue advances to the next scenario. Scenario Menu returns to hub.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Continue → Screen 18 (Scenario 3) | Scenario Menu → Screen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3 – Persona (The Unreasonable Request)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18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The Unreasonable Request — Scenario 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Sam, Customer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Sam wants a refund on a product returned 60 days past the deadline, and threatens a negative review.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“I know it's late, but I want my money back today — or I'm leaving a one-star review everywhere I can.”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Your Task: Read the situation, then choose how you'd respond in the moment.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32888" y="585216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32888" y="58521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Begin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Same persona template, avatar initial 'S'.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Begin advances into the decision point. Scenario Menu returns to hub.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Begin → Screen 19 | Scenario Menu → Screen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3 – Decision Point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19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How do you respond first?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“I know it's late, but I want my money back today — or I'm leaving a one-star review everywhere I can.”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A. “Okay, I'll go ahead and process that refund for you.”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B. “I'm sorry, that's against policy. There's nothing I can do.”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C. “I understand that it feels unfair. I can't refund past the window, but I can offer store credit. Let's find something that works.”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Same decision template.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Learner clicks one of three response cards.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A → Screen 20 | B → Screen 21 | C → Screen 22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3 – Feedback A (Not Quite)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20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A – Not Quite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“Okay, I'll go ahead and process that refund for you.”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Giving in to a threat feels like the fastest way to end the conflict, but it isn't sustainable — and it doesn't actually build genuine trust.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97864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Try again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03704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03704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NOT QUITE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Red feedback template.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Try Again returns to decision point.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Try again → Screen 19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21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3 – Feedback B (Room to Improve)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21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B – Room to Improve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“I'm sorry, that's against policy. There's nothing I can do.”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A flat refusal without explanation or alternative feels dismissive. It's honest, but it raises — not lowers — the odds of that negative review.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97864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Try again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03704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03704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ROOM TO IMPROVE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Amber feedback template.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Try Again returns to decision point.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Try again → Screen 19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3 – Feedback C (Strong Response)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22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C – Strong Response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“I understand that it feels unfair. I can't refund past the window, but I can offer store credit. Let's find something that works.”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You held the boundary and offered a real alternative. De-escalation isn't about giving in — it's about staying firm while still moving toward a solution.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Continue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21408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21408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STRONG RESPONSE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Teal/green feedback template.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Continue advances to debrief.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Continue → Screen 23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3 – Debrief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23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013A40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0A4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Scenario 3: Debrief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HOLD THE BOUNDARY, OFFER A PATH.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You don't have to say yes to de-escalate. Explaining the “why” and offering an alternative respects both the policy and the relationship.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219456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Click here to continue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0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0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Dark teal debrief template.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Continue advances to the Final Challenge. Scenario Menu returns to hub.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Continue → Screen 24 (Final Challenge) | Scenario Menu → Screen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 Last of the three core scenarios — routes into the capstone challenge.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Final Challenge – Persona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24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Put It All Together — Final Challenge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Alex, Customer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Alex is messaging in live chat, clearly frustrated, in short clipped sentences.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“This is a joke. Fix it or I'm done.”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Your Task: Read the situation, then choose how you'd respond in the moment.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32888" y="5852160"/>
            <a:ext cx="86868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32888" y="58521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Begin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Same persona template, avatar initial 'A'. Labeled 'Final Challenge' instead of a scenario number to signal capstone status.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Begin advances into the decision point. Scenario Menu returns to hub.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Begin → Screen 25 | Scenario Menu → Screen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 Live-chat framing (not phone call) — shorter, clipped customer message reflects text-chat tone.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Final Challenge – Decision Point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25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You have one message to turn this around. What do you send?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“This is a joke. Fix it or I'm done.”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A. “Can you tell me more about the issue you're having?”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B. “Sorry for the trouble! I'll look into it.”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C. “That sounds really frustrating, and I want to make this right. I'm looking into your account right now and won't leave this chat until we have an answer.”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Same decision template.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Learner clicks one of three response cards.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A → Screen 26 | B → Screen 27 | C → Screen 28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 This decision synthesizes all three prior skills (acknowledge, ownership, boundary/commitment) into one message.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Final Challenge – Feedback A (Not Quite)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26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A – Not Quite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“Can you tell me more about the issue you're having?”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Not wrong, but it ignores Alex's frustration entirely. Jumping straight into fact-finding without any acknowledgment can feel cold, especially in text.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97864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Try again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03704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03704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NOT QUITE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Red feedback template.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Try Again returns to decision point.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Try again → Screen 25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27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Final Challenge – Feedback B (Room to Improve)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27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B – Room to Improve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“Sorry for the trouble! I'll look into it.”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Friendly, but generic — it doesn't show you've registered how frustrated Alex is, and “I'll look into it” makes no real commitment.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97864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97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Try again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03704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203704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ROOM TO IMPROVE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Amber feedback template.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Try Again returns to decision point.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Try again → Screen 25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28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Final Challenge – Feedback C (Strong Response)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28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EAF6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B2C"/>
                </a:solidFill>
                <a:ea typeface="Cambria" pitchFamily="34" charset="-122"/>
                <a:cs typeface="Cambria" pitchFamily="34" charset="-120"/>
              </a:rPr>
              <a:t>Option C – Strong Response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You said: “That sounds really frustrating, and I want to make this right. I'm looking into your account right now and won't leave this chat until we have an answer.”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Why it matters: You combined acknowledgment, ownership, and a concrete commitment — the full C.A.L.M. approach, in one message.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115568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Continue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21408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EAF6F5"/>
          </a:solidFill>
          <a:ln w="12700">
            <a:solidFill>
              <a:srgbClr val="EAF6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21408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1463040"/>
            <a:ext cx="1645920" cy="320040"/>
          </a:xfrm>
          <a:prstGeom prst="roundRect">
            <a:avLst>
              <a:gd name="adj" fmla="val 17143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STRONG RESPONSE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Teal/green feedback template.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Continue advances to final debrief.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Continue → Screen 29 | Scenario Menu → Screen 5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Reused template. Explicitly ties the response back to the C.A.L.M. framework from Screen 4.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29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Final Challenge – Debrief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29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013A40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0A4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Final Challenge: Debrief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YOU'VE GOT THIS.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Center yourself, Acknowledge the feeling, Listen fully, and Move toward a solution together. Every difficult conversation gets easier in that order.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691640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See your Result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97480" y="5852160"/>
            <a:ext cx="1527048" cy="384048"/>
          </a:xfrm>
          <a:prstGeom prst="roundRect">
            <a:avLst>
              <a:gd name="adj" fmla="val 19048"/>
            </a:avLst>
          </a:prstGeom>
          <a:solidFill>
            <a:srgbClr val="0A4B4F"/>
          </a:solidFill>
          <a:ln w="12700">
            <a:solidFill>
              <a:srgbClr val="0A4B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97480" y="5852160"/>
            <a:ext cx="1527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Scenario Menu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Dark teal debrief template.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See your Result advances to the completion screen. Scenario Menu returns to hub.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See your Result → Screen 30 | Scenario Menu → Screen 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Final debrief before course completion; button label changes from 'Continue' to 'See your Result' to signal this is the last step.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13A40"/>
          </a:solidFill>
          <a:ln w="12700">
            <a:solidFill>
              <a:srgbClr val="013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280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SCREEN 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Course Complete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817352" y="2286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30 / 30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6949440" cy="5394960"/>
          </a:xfrm>
          <a:prstGeom prst="roundRect">
            <a:avLst>
              <a:gd name="adj" fmla="val 1017"/>
            </a:avLst>
          </a:prstGeom>
          <a:solidFill>
            <a:srgbClr val="013A40"/>
          </a:solidFill>
          <a:ln w="19050">
            <a:solidFill>
              <a:srgbClr val="D9E9E8"/>
            </a:solidFill>
            <a:prstDash val="solid"/>
          </a:ln>
          <a:effectLst>
            <a:outerShdw blurRad="76200" dist="25400" dir="5400000" algn="bl" rotWithShape="0">
              <a:srgbClr val="1B2B2C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6949440" cy="292608"/>
          </a:xfrm>
          <a:prstGeom prst="rect">
            <a:avLst/>
          </a:prstGeom>
          <a:solidFill>
            <a:srgbClr val="0A4B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21792" y="1143000"/>
            <a:ext cx="109728" cy="109728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143000"/>
            <a:ext cx="109728" cy="10972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60704" y="114300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5448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ea typeface="Cambria" pitchFamily="34" charset="-122"/>
                <a:cs typeface="Cambria" pitchFamily="34" charset="-120"/>
              </a:rPr>
              <a:t>Course Complete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62179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You've worked through every scenario. The next real conversation is the one that counts — carry C.A.L.M. with you.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DC"/>
                </a:solidFill>
                <a:ea typeface="Calibri" pitchFamily="34" charset="-122"/>
                <a:cs typeface="Calibri" pitchFamily="34" charset="-120"/>
              </a:rPr>
              <a:t>[Recap chips] Center | Acknowledge | Listen | Move Forward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5852160"/>
            <a:ext cx="1609344" cy="384048"/>
          </a:xfrm>
          <a:prstGeom prst="roundRect">
            <a:avLst>
              <a:gd name="adj" fmla="val 19048"/>
            </a:avLst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22960" y="5852160"/>
            <a:ext cx="16093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Restart Course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35240" y="1051560"/>
            <a:ext cx="4114800" cy="5394960"/>
          </a:xfrm>
          <a:prstGeom prst="roundRect">
            <a:avLst>
              <a:gd name="adj" fmla="val 1333"/>
            </a:avLst>
          </a:prstGeom>
          <a:solidFill>
            <a:srgbClr val="F7FAFA"/>
          </a:solidFill>
          <a:ln w="12700">
            <a:solidFill>
              <a:srgbClr val="D9E9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35240" y="1280160"/>
            <a:ext cx="82296" cy="256032"/>
          </a:xfrm>
          <a:prstGeom prst="round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18120" y="126187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8090"/>
                </a:solidFill>
                <a:ea typeface="Calibri" pitchFamily="34" charset="-122"/>
                <a:cs typeface="Calibri" pitchFamily="34" charset="-120"/>
              </a:rPr>
              <a:t>VISUAL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909560" y="15727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Dark teal background, centered layout. Large star icon/badge at top, headline, supporting line, four small recap chips summarizing C.A.L.M., orange Restart button.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635240" y="2624328"/>
            <a:ext cx="82296" cy="256032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81812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ea typeface="Calibri" pitchFamily="34" charset="-122"/>
                <a:cs typeface="Calibri" pitchFamily="34" charset="-120"/>
              </a:rPr>
              <a:t>INTERACTION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09560" y="29169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B2B2C"/>
                </a:solidFill>
                <a:ea typeface="Calibri" pitchFamily="34" charset="-122"/>
                <a:cs typeface="Calibri" pitchFamily="34" charset="-120"/>
              </a:rPr>
              <a:t>Restart Course returns the learner to the Scenario Menu to revisit any path.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635240" y="3694176"/>
            <a:ext cx="82296" cy="256032"/>
          </a:xfrm>
          <a:prstGeom prst="roundRect">
            <a:avLst/>
          </a:prstGeom>
          <a:solidFill>
            <a:srgbClr val="E97132"/>
          </a:solidFill>
          <a:ln w="12700">
            <a:solidFill>
              <a:srgbClr val="E971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818120" y="36758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E97132"/>
                </a:solidFill>
                <a:ea typeface="Calibri" pitchFamily="34" charset="-122"/>
                <a:cs typeface="Calibri" pitchFamily="34" charset="-120"/>
              </a:rPr>
              <a:t>NAVIGATION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909560" y="398678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13A40"/>
                </a:solidFill>
                <a:ea typeface="Calibri" pitchFamily="34" charset="-122"/>
                <a:cs typeface="Calibri" pitchFamily="34" charset="-120"/>
              </a:rPr>
              <a:t>Restart Course → Screen 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4809744"/>
            <a:ext cx="82296" cy="256032"/>
          </a:xfrm>
          <a:prstGeom prst="roundRect">
            <a:avLst/>
          </a:prstGeom>
          <a:solidFill>
            <a:srgbClr val="5B6B6C"/>
          </a:solidFill>
          <a:ln w="12700">
            <a:solidFill>
              <a:srgbClr val="5B6B6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18120" y="479145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DEV NOTES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5102352"/>
            <a:ext cx="35661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i="1" dirty="0">
                <a:solidFill>
                  <a:srgbClr val="5B6B6C"/>
                </a:solidFill>
                <a:ea typeface="Calibri" pitchFamily="34" charset="-122"/>
                <a:cs typeface="Calibri" pitchFamily="34" charset="-120"/>
              </a:rPr>
              <a:t>Final screen of the course. No further branching. Confirms completion; no scoring/certificate mechanism in this version.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4058</Words>
  <Application>Microsoft Office PowerPoint</Application>
  <PresentationFormat>Widescreen</PresentationFormat>
  <Paragraphs>544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Bhatia, Rimjhim</cp:lastModifiedBy>
  <cp:revision>2</cp:revision>
  <dcterms:created xsi:type="dcterms:W3CDTF">2026-08-04T23:27:17Z</dcterms:created>
  <dcterms:modified xsi:type="dcterms:W3CDTF">2026-08-04T23:43:10Z</dcterms:modified>
</cp:coreProperties>
</file>