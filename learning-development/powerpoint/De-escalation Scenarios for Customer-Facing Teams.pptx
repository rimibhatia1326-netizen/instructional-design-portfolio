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4" r:id="rId5"/>
    <p:sldId id="293" r:id="rId6"/>
    <p:sldId id="267" r:id="rId7"/>
    <p:sldId id="266" r:id="rId8"/>
    <p:sldId id="268" r:id="rId9"/>
    <p:sldId id="269" r:id="rId10"/>
    <p:sldId id="270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2" r:id="rId30"/>
    <p:sldId id="29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013A40"/>
    <a:srgbClr val="E8A33D"/>
    <a:srgbClr val="156082"/>
    <a:srgbClr val="02C39A"/>
    <a:srgbClr val="028090"/>
    <a:srgbClr val="EAF6F5"/>
    <a:srgbClr val="1D4F47"/>
    <a:srgbClr val="000A6C"/>
    <a:srgbClr val="241E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9" autoAdjust="0"/>
    <p:restoredTop sz="94660"/>
  </p:normalViewPr>
  <p:slideViewPr>
    <p:cSldViewPr snapToGrid="0">
      <p:cViewPr varScale="1">
        <p:scale>
          <a:sx n="67" d="100"/>
          <a:sy n="67" d="100"/>
        </p:scale>
        <p:origin x="6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DA1BB3-B3F2-4E41-8028-E0407CD58D8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6059A1D-744B-4DCE-9401-06A40EC37610}">
      <dgm:prSet/>
      <dgm:spPr>
        <a:solidFill>
          <a:srgbClr val="156082"/>
        </a:solidFill>
      </dgm:spPr>
      <dgm:t>
        <a:bodyPr/>
        <a:lstStyle/>
        <a:p>
          <a:r>
            <a:rPr lang="en-US" dirty="0"/>
            <a:t>Recognize the difference between reacting to a customer and responding to them</a:t>
          </a:r>
        </a:p>
      </dgm:t>
    </dgm:pt>
    <dgm:pt modelId="{9DECDF24-7A6C-4303-A577-1D38BF60649A}" type="parTrans" cxnId="{E4D59FC2-E31A-4F96-B8FB-066E2B7A71E6}">
      <dgm:prSet/>
      <dgm:spPr/>
      <dgm:t>
        <a:bodyPr/>
        <a:lstStyle/>
        <a:p>
          <a:endParaRPr lang="en-US"/>
        </a:p>
      </dgm:t>
    </dgm:pt>
    <dgm:pt modelId="{7C5A2386-1440-4FA6-97A9-D6F0D0067508}" type="sibTrans" cxnId="{E4D59FC2-E31A-4F96-B8FB-066E2B7A71E6}">
      <dgm:prSet/>
      <dgm:spPr/>
      <dgm:t>
        <a:bodyPr/>
        <a:lstStyle/>
        <a:p>
          <a:endParaRPr lang="en-US"/>
        </a:p>
      </dgm:t>
    </dgm:pt>
    <dgm:pt modelId="{F21D2BB0-9AF9-4780-86A3-546233EAB3F0}">
      <dgm:prSet/>
      <dgm:spPr/>
      <dgm:t>
        <a:bodyPr/>
        <a:lstStyle/>
        <a:p>
          <a:r>
            <a:rPr lang="en-US" dirty="0"/>
            <a:t>Acknowledge a customer's emotions before jumping to a fix</a:t>
          </a:r>
        </a:p>
      </dgm:t>
    </dgm:pt>
    <dgm:pt modelId="{C4010F8C-7050-4D4E-97FA-E2D67AD675A5}" type="parTrans" cxnId="{0BA5662D-EC84-47A2-87F1-29769A3CA7B2}">
      <dgm:prSet/>
      <dgm:spPr/>
      <dgm:t>
        <a:bodyPr/>
        <a:lstStyle/>
        <a:p>
          <a:endParaRPr lang="en-US"/>
        </a:p>
      </dgm:t>
    </dgm:pt>
    <dgm:pt modelId="{056BC909-E695-41C8-ADBC-6AA9F3F28748}" type="sibTrans" cxnId="{0BA5662D-EC84-47A2-87F1-29769A3CA7B2}">
      <dgm:prSet/>
      <dgm:spPr/>
      <dgm:t>
        <a:bodyPr/>
        <a:lstStyle/>
        <a:p>
          <a:endParaRPr lang="en-US"/>
        </a:p>
      </dgm:t>
    </dgm:pt>
    <dgm:pt modelId="{D5E119A3-1EF1-48B0-8622-B591473F6E4C}">
      <dgm:prSet/>
      <dgm:spPr/>
      <dgm:t>
        <a:bodyPr/>
        <a:lstStyle/>
        <a:p>
          <a:r>
            <a:rPr lang="en-US"/>
            <a:t>Take ownership of a problem instead of deflecting or passing it along</a:t>
          </a:r>
        </a:p>
      </dgm:t>
    </dgm:pt>
    <dgm:pt modelId="{E143C1E9-2338-4F4C-95E1-8B6E98E136B8}" type="parTrans" cxnId="{36610F18-B00E-45D3-A980-AC9153109D66}">
      <dgm:prSet/>
      <dgm:spPr/>
      <dgm:t>
        <a:bodyPr/>
        <a:lstStyle/>
        <a:p>
          <a:endParaRPr lang="en-US"/>
        </a:p>
      </dgm:t>
    </dgm:pt>
    <dgm:pt modelId="{77CC108A-79AC-4A1E-AE13-E63D1D1455B7}" type="sibTrans" cxnId="{36610F18-B00E-45D3-A980-AC9153109D66}">
      <dgm:prSet/>
      <dgm:spPr/>
      <dgm:t>
        <a:bodyPr/>
        <a:lstStyle/>
        <a:p>
          <a:endParaRPr lang="en-US"/>
        </a:p>
      </dgm:t>
    </dgm:pt>
    <dgm:pt modelId="{CE823DDB-7272-4FDE-BB68-0C98E64A6252}">
      <dgm:prSet/>
      <dgm:spPr/>
      <dgm:t>
        <a:bodyPr/>
        <a:lstStyle/>
        <a:p>
          <a:r>
            <a:rPr lang="en-US"/>
            <a:t>Hold a policy boundary firmly while still offering the customer a way forward</a:t>
          </a:r>
        </a:p>
      </dgm:t>
    </dgm:pt>
    <dgm:pt modelId="{02FD73E2-4F39-403D-BC96-27074EBB8D5D}" type="parTrans" cxnId="{BAB7CC3B-E7A2-484D-A85A-55531244F8A5}">
      <dgm:prSet/>
      <dgm:spPr/>
      <dgm:t>
        <a:bodyPr/>
        <a:lstStyle/>
        <a:p>
          <a:endParaRPr lang="en-US"/>
        </a:p>
      </dgm:t>
    </dgm:pt>
    <dgm:pt modelId="{27D18A80-79D8-4C77-8CE6-73775E3C01BF}" type="sibTrans" cxnId="{BAB7CC3B-E7A2-484D-A85A-55531244F8A5}">
      <dgm:prSet/>
      <dgm:spPr/>
      <dgm:t>
        <a:bodyPr/>
        <a:lstStyle/>
        <a:p>
          <a:endParaRPr lang="en-US"/>
        </a:p>
      </dgm:t>
    </dgm:pt>
    <dgm:pt modelId="{350A5EBE-B8A4-4E18-BE67-F48F76B53B3A}" type="pres">
      <dgm:prSet presAssocID="{5FDA1BB3-B3F2-4E41-8028-E0407CD58D8D}" presName="linear" presStyleCnt="0">
        <dgm:presLayoutVars>
          <dgm:dir/>
          <dgm:animLvl val="lvl"/>
          <dgm:resizeHandles val="exact"/>
        </dgm:presLayoutVars>
      </dgm:prSet>
      <dgm:spPr/>
    </dgm:pt>
    <dgm:pt modelId="{943BCC36-C449-4DCF-8826-5717AFC83E99}" type="pres">
      <dgm:prSet presAssocID="{A6059A1D-744B-4DCE-9401-06A40EC37610}" presName="parentLin" presStyleCnt="0"/>
      <dgm:spPr/>
    </dgm:pt>
    <dgm:pt modelId="{BE393D27-2F78-452A-AF97-48FC1A062641}" type="pres">
      <dgm:prSet presAssocID="{A6059A1D-744B-4DCE-9401-06A40EC37610}" presName="parentLeftMargin" presStyleLbl="node1" presStyleIdx="0" presStyleCnt="4"/>
      <dgm:spPr/>
    </dgm:pt>
    <dgm:pt modelId="{DCF76E14-2F9C-40EF-AC99-93B2F96B61F4}" type="pres">
      <dgm:prSet presAssocID="{A6059A1D-744B-4DCE-9401-06A40EC3761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1E59112-E42D-4DB2-8625-B90089D28D54}" type="pres">
      <dgm:prSet presAssocID="{A6059A1D-744B-4DCE-9401-06A40EC37610}" presName="negativeSpace" presStyleCnt="0"/>
      <dgm:spPr/>
    </dgm:pt>
    <dgm:pt modelId="{95FD85C8-BFCC-4F3F-A627-85F1BA657564}" type="pres">
      <dgm:prSet presAssocID="{A6059A1D-744B-4DCE-9401-06A40EC37610}" presName="childText" presStyleLbl="conFgAcc1" presStyleIdx="0" presStyleCnt="4">
        <dgm:presLayoutVars>
          <dgm:bulletEnabled val="1"/>
        </dgm:presLayoutVars>
      </dgm:prSet>
      <dgm:spPr/>
    </dgm:pt>
    <dgm:pt modelId="{8D56887D-FC81-4E0E-98CE-638C84AA28F7}" type="pres">
      <dgm:prSet presAssocID="{7C5A2386-1440-4FA6-97A9-D6F0D0067508}" presName="spaceBetweenRectangles" presStyleCnt="0"/>
      <dgm:spPr/>
    </dgm:pt>
    <dgm:pt modelId="{B7C0B431-559B-46AA-BA29-6F8AA8008D6C}" type="pres">
      <dgm:prSet presAssocID="{F21D2BB0-9AF9-4780-86A3-546233EAB3F0}" presName="parentLin" presStyleCnt="0"/>
      <dgm:spPr/>
    </dgm:pt>
    <dgm:pt modelId="{0C086718-AC68-4127-A7AB-7F7CD757DB38}" type="pres">
      <dgm:prSet presAssocID="{F21D2BB0-9AF9-4780-86A3-546233EAB3F0}" presName="parentLeftMargin" presStyleLbl="node1" presStyleIdx="0" presStyleCnt="4"/>
      <dgm:spPr/>
    </dgm:pt>
    <dgm:pt modelId="{924E6D09-2E68-4D53-8D14-6D2273B9084F}" type="pres">
      <dgm:prSet presAssocID="{F21D2BB0-9AF9-4780-86A3-546233EAB3F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A37A4E8-3006-45C8-8870-26CC0EC9269B}" type="pres">
      <dgm:prSet presAssocID="{F21D2BB0-9AF9-4780-86A3-546233EAB3F0}" presName="negativeSpace" presStyleCnt="0"/>
      <dgm:spPr/>
    </dgm:pt>
    <dgm:pt modelId="{79106186-3FA1-4348-8CE9-220489D11B5C}" type="pres">
      <dgm:prSet presAssocID="{F21D2BB0-9AF9-4780-86A3-546233EAB3F0}" presName="childText" presStyleLbl="conFgAcc1" presStyleIdx="1" presStyleCnt="4">
        <dgm:presLayoutVars>
          <dgm:bulletEnabled val="1"/>
        </dgm:presLayoutVars>
      </dgm:prSet>
      <dgm:spPr/>
    </dgm:pt>
    <dgm:pt modelId="{54A1E4CB-8AA8-4AA7-A357-B08F341EDA50}" type="pres">
      <dgm:prSet presAssocID="{056BC909-E695-41C8-ADBC-6AA9F3F28748}" presName="spaceBetweenRectangles" presStyleCnt="0"/>
      <dgm:spPr/>
    </dgm:pt>
    <dgm:pt modelId="{4DD40635-A869-4C4B-AC30-B98091EDC21F}" type="pres">
      <dgm:prSet presAssocID="{D5E119A3-1EF1-48B0-8622-B591473F6E4C}" presName="parentLin" presStyleCnt="0"/>
      <dgm:spPr/>
    </dgm:pt>
    <dgm:pt modelId="{7F6E2EBD-5FF0-4D60-8643-2893DA818A4F}" type="pres">
      <dgm:prSet presAssocID="{D5E119A3-1EF1-48B0-8622-B591473F6E4C}" presName="parentLeftMargin" presStyleLbl="node1" presStyleIdx="1" presStyleCnt="4"/>
      <dgm:spPr/>
    </dgm:pt>
    <dgm:pt modelId="{0CD6EC68-3956-4EC7-8F20-25C21814CAFF}" type="pres">
      <dgm:prSet presAssocID="{D5E119A3-1EF1-48B0-8622-B591473F6E4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5E89213-94D2-4E8B-A728-6F40573B3ABF}" type="pres">
      <dgm:prSet presAssocID="{D5E119A3-1EF1-48B0-8622-B591473F6E4C}" presName="negativeSpace" presStyleCnt="0"/>
      <dgm:spPr/>
    </dgm:pt>
    <dgm:pt modelId="{0D3EB930-9030-406C-9995-072296DFE629}" type="pres">
      <dgm:prSet presAssocID="{D5E119A3-1EF1-48B0-8622-B591473F6E4C}" presName="childText" presStyleLbl="conFgAcc1" presStyleIdx="2" presStyleCnt="4">
        <dgm:presLayoutVars>
          <dgm:bulletEnabled val="1"/>
        </dgm:presLayoutVars>
      </dgm:prSet>
      <dgm:spPr/>
    </dgm:pt>
    <dgm:pt modelId="{EC9F43F5-2D7C-44EA-9F19-CF611D322E38}" type="pres">
      <dgm:prSet presAssocID="{77CC108A-79AC-4A1E-AE13-E63D1D1455B7}" presName="spaceBetweenRectangles" presStyleCnt="0"/>
      <dgm:spPr/>
    </dgm:pt>
    <dgm:pt modelId="{F9A70BB2-2A6B-492C-80D8-EC9ABF7938CD}" type="pres">
      <dgm:prSet presAssocID="{CE823DDB-7272-4FDE-BB68-0C98E64A6252}" presName="parentLin" presStyleCnt="0"/>
      <dgm:spPr/>
    </dgm:pt>
    <dgm:pt modelId="{86721AC0-162A-4B15-B35E-651D94399EDB}" type="pres">
      <dgm:prSet presAssocID="{CE823DDB-7272-4FDE-BB68-0C98E64A6252}" presName="parentLeftMargin" presStyleLbl="node1" presStyleIdx="2" presStyleCnt="4"/>
      <dgm:spPr/>
    </dgm:pt>
    <dgm:pt modelId="{0BF16FFC-4D34-422D-AB5D-252CE72B843A}" type="pres">
      <dgm:prSet presAssocID="{CE823DDB-7272-4FDE-BB68-0C98E64A625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77D12B1-671E-43A6-87C3-51B4ED20C53E}" type="pres">
      <dgm:prSet presAssocID="{CE823DDB-7272-4FDE-BB68-0C98E64A6252}" presName="negativeSpace" presStyleCnt="0"/>
      <dgm:spPr/>
    </dgm:pt>
    <dgm:pt modelId="{DA6F13A8-D9A3-424C-8471-CDA0BD43280A}" type="pres">
      <dgm:prSet presAssocID="{CE823DDB-7272-4FDE-BB68-0C98E64A625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6610F18-B00E-45D3-A980-AC9153109D66}" srcId="{5FDA1BB3-B3F2-4E41-8028-E0407CD58D8D}" destId="{D5E119A3-1EF1-48B0-8622-B591473F6E4C}" srcOrd="2" destOrd="0" parTransId="{E143C1E9-2338-4F4C-95E1-8B6E98E136B8}" sibTransId="{77CC108A-79AC-4A1E-AE13-E63D1D1455B7}"/>
    <dgm:cxn modelId="{D7217C2A-71A3-44FC-851A-0EDF2BD24D17}" type="presOf" srcId="{CE823DDB-7272-4FDE-BB68-0C98E64A6252}" destId="{86721AC0-162A-4B15-B35E-651D94399EDB}" srcOrd="0" destOrd="0" presId="urn:microsoft.com/office/officeart/2005/8/layout/list1"/>
    <dgm:cxn modelId="{0BA5662D-EC84-47A2-87F1-29769A3CA7B2}" srcId="{5FDA1BB3-B3F2-4E41-8028-E0407CD58D8D}" destId="{F21D2BB0-9AF9-4780-86A3-546233EAB3F0}" srcOrd="1" destOrd="0" parTransId="{C4010F8C-7050-4D4E-97FA-E2D67AD675A5}" sibTransId="{056BC909-E695-41C8-ADBC-6AA9F3F28748}"/>
    <dgm:cxn modelId="{BAB7CC3B-E7A2-484D-A85A-55531244F8A5}" srcId="{5FDA1BB3-B3F2-4E41-8028-E0407CD58D8D}" destId="{CE823DDB-7272-4FDE-BB68-0C98E64A6252}" srcOrd="3" destOrd="0" parTransId="{02FD73E2-4F39-403D-BC96-27074EBB8D5D}" sibTransId="{27D18A80-79D8-4C77-8CE6-73775E3C01BF}"/>
    <dgm:cxn modelId="{9CAB9682-27B7-485F-AD86-62738E9A804A}" type="presOf" srcId="{D5E119A3-1EF1-48B0-8622-B591473F6E4C}" destId="{0CD6EC68-3956-4EC7-8F20-25C21814CAFF}" srcOrd="1" destOrd="0" presId="urn:microsoft.com/office/officeart/2005/8/layout/list1"/>
    <dgm:cxn modelId="{1478D887-6207-4780-B8D4-E2DA30971DBD}" type="presOf" srcId="{A6059A1D-744B-4DCE-9401-06A40EC37610}" destId="{DCF76E14-2F9C-40EF-AC99-93B2F96B61F4}" srcOrd="1" destOrd="0" presId="urn:microsoft.com/office/officeart/2005/8/layout/list1"/>
    <dgm:cxn modelId="{075AC695-853B-4418-96FA-92EEB808F6F8}" type="presOf" srcId="{F21D2BB0-9AF9-4780-86A3-546233EAB3F0}" destId="{0C086718-AC68-4127-A7AB-7F7CD757DB38}" srcOrd="0" destOrd="0" presId="urn:microsoft.com/office/officeart/2005/8/layout/list1"/>
    <dgm:cxn modelId="{00F24E99-EB1F-42B6-9977-995DEE68C587}" type="presOf" srcId="{F21D2BB0-9AF9-4780-86A3-546233EAB3F0}" destId="{924E6D09-2E68-4D53-8D14-6D2273B9084F}" srcOrd="1" destOrd="0" presId="urn:microsoft.com/office/officeart/2005/8/layout/list1"/>
    <dgm:cxn modelId="{E4D59FC2-E31A-4F96-B8FB-066E2B7A71E6}" srcId="{5FDA1BB3-B3F2-4E41-8028-E0407CD58D8D}" destId="{A6059A1D-744B-4DCE-9401-06A40EC37610}" srcOrd="0" destOrd="0" parTransId="{9DECDF24-7A6C-4303-A577-1D38BF60649A}" sibTransId="{7C5A2386-1440-4FA6-97A9-D6F0D0067508}"/>
    <dgm:cxn modelId="{86258BCA-3708-496F-9190-4BAB4FA08A5A}" type="presOf" srcId="{D5E119A3-1EF1-48B0-8622-B591473F6E4C}" destId="{7F6E2EBD-5FF0-4D60-8643-2893DA818A4F}" srcOrd="0" destOrd="0" presId="urn:microsoft.com/office/officeart/2005/8/layout/list1"/>
    <dgm:cxn modelId="{BE4DFACB-94A9-46E6-BAC8-3B92F258C79F}" type="presOf" srcId="{CE823DDB-7272-4FDE-BB68-0C98E64A6252}" destId="{0BF16FFC-4D34-422D-AB5D-252CE72B843A}" srcOrd="1" destOrd="0" presId="urn:microsoft.com/office/officeart/2005/8/layout/list1"/>
    <dgm:cxn modelId="{503EDDD9-96B9-4EA0-98BC-DB82F1553A03}" type="presOf" srcId="{5FDA1BB3-B3F2-4E41-8028-E0407CD58D8D}" destId="{350A5EBE-B8A4-4E18-BE67-F48F76B53B3A}" srcOrd="0" destOrd="0" presId="urn:microsoft.com/office/officeart/2005/8/layout/list1"/>
    <dgm:cxn modelId="{16BC74DA-F8D7-4626-9F62-5B6DC4F32384}" type="presOf" srcId="{A6059A1D-744B-4DCE-9401-06A40EC37610}" destId="{BE393D27-2F78-452A-AF97-48FC1A062641}" srcOrd="0" destOrd="0" presId="urn:microsoft.com/office/officeart/2005/8/layout/list1"/>
    <dgm:cxn modelId="{16EB7D34-F012-4059-BAB3-F433D774DA68}" type="presParOf" srcId="{350A5EBE-B8A4-4E18-BE67-F48F76B53B3A}" destId="{943BCC36-C449-4DCF-8826-5717AFC83E99}" srcOrd="0" destOrd="0" presId="urn:microsoft.com/office/officeart/2005/8/layout/list1"/>
    <dgm:cxn modelId="{334FBFB8-471A-4066-8BBE-E1D8BF7E349E}" type="presParOf" srcId="{943BCC36-C449-4DCF-8826-5717AFC83E99}" destId="{BE393D27-2F78-452A-AF97-48FC1A062641}" srcOrd="0" destOrd="0" presId="urn:microsoft.com/office/officeart/2005/8/layout/list1"/>
    <dgm:cxn modelId="{57E71395-7006-4BD6-B7F4-B1E66CC58679}" type="presParOf" srcId="{943BCC36-C449-4DCF-8826-5717AFC83E99}" destId="{DCF76E14-2F9C-40EF-AC99-93B2F96B61F4}" srcOrd="1" destOrd="0" presId="urn:microsoft.com/office/officeart/2005/8/layout/list1"/>
    <dgm:cxn modelId="{43C95E32-ECE1-4759-8255-9FC6A401996D}" type="presParOf" srcId="{350A5EBE-B8A4-4E18-BE67-F48F76B53B3A}" destId="{31E59112-E42D-4DB2-8625-B90089D28D54}" srcOrd="1" destOrd="0" presId="urn:microsoft.com/office/officeart/2005/8/layout/list1"/>
    <dgm:cxn modelId="{18EECBF5-4757-4803-AEE9-0D5B28BCD280}" type="presParOf" srcId="{350A5EBE-B8A4-4E18-BE67-F48F76B53B3A}" destId="{95FD85C8-BFCC-4F3F-A627-85F1BA657564}" srcOrd="2" destOrd="0" presId="urn:microsoft.com/office/officeart/2005/8/layout/list1"/>
    <dgm:cxn modelId="{08D6118C-ADDC-4BEB-B120-1F8143F784CA}" type="presParOf" srcId="{350A5EBE-B8A4-4E18-BE67-F48F76B53B3A}" destId="{8D56887D-FC81-4E0E-98CE-638C84AA28F7}" srcOrd="3" destOrd="0" presId="urn:microsoft.com/office/officeart/2005/8/layout/list1"/>
    <dgm:cxn modelId="{7716FD95-D0D2-412B-AC09-7038A72CBE18}" type="presParOf" srcId="{350A5EBE-B8A4-4E18-BE67-F48F76B53B3A}" destId="{B7C0B431-559B-46AA-BA29-6F8AA8008D6C}" srcOrd="4" destOrd="0" presId="urn:microsoft.com/office/officeart/2005/8/layout/list1"/>
    <dgm:cxn modelId="{177EECD3-1C0B-463E-B920-597B18288A7A}" type="presParOf" srcId="{B7C0B431-559B-46AA-BA29-6F8AA8008D6C}" destId="{0C086718-AC68-4127-A7AB-7F7CD757DB38}" srcOrd="0" destOrd="0" presId="urn:microsoft.com/office/officeart/2005/8/layout/list1"/>
    <dgm:cxn modelId="{E5411064-74BA-4830-B032-685A2E318600}" type="presParOf" srcId="{B7C0B431-559B-46AA-BA29-6F8AA8008D6C}" destId="{924E6D09-2E68-4D53-8D14-6D2273B9084F}" srcOrd="1" destOrd="0" presId="urn:microsoft.com/office/officeart/2005/8/layout/list1"/>
    <dgm:cxn modelId="{200D3D04-9709-49AC-90C5-2F2CE199A6A5}" type="presParOf" srcId="{350A5EBE-B8A4-4E18-BE67-F48F76B53B3A}" destId="{9A37A4E8-3006-45C8-8870-26CC0EC9269B}" srcOrd="5" destOrd="0" presId="urn:microsoft.com/office/officeart/2005/8/layout/list1"/>
    <dgm:cxn modelId="{5E4468C6-F3F1-4A4D-82EF-39B3AD25605B}" type="presParOf" srcId="{350A5EBE-B8A4-4E18-BE67-F48F76B53B3A}" destId="{79106186-3FA1-4348-8CE9-220489D11B5C}" srcOrd="6" destOrd="0" presId="urn:microsoft.com/office/officeart/2005/8/layout/list1"/>
    <dgm:cxn modelId="{CC19425F-2687-411B-9A18-A18B02900FBF}" type="presParOf" srcId="{350A5EBE-B8A4-4E18-BE67-F48F76B53B3A}" destId="{54A1E4CB-8AA8-4AA7-A357-B08F341EDA50}" srcOrd="7" destOrd="0" presId="urn:microsoft.com/office/officeart/2005/8/layout/list1"/>
    <dgm:cxn modelId="{507E6042-6006-4358-8F7D-08CEF14D8F72}" type="presParOf" srcId="{350A5EBE-B8A4-4E18-BE67-F48F76B53B3A}" destId="{4DD40635-A869-4C4B-AC30-B98091EDC21F}" srcOrd="8" destOrd="0" presId="urn:microsoft.com/office/officeart/2005/8/layout/list1"/>
    <dgm:cxn modelId="{E867AD9A-3DF3-44E8-BDD1-8806A4249707}" type="presParOf" srcId="{4DD40635-A869-4C4B-AC30-B98091EDC21F}" destId="{7F6E2EBD-5FF0-4D60-8643-2893DA818A4F}" srcOrd="0" destOrd="0" presId="urn:microsoft.com/office/officeart/2005/8/layout/list1"/>
    <dgm:cxn modelId="{204A2BF3-D173-4718-93E1-A0352905ABC2}" type="presParOf" srcId="{4DD40635-A869-4C4B-AC30-B98091EDC21F}" destId="{0CD6EC68-3956-4EC7-8F20-25C21814CAFF}" srcOrd="1" destOrd="0" presId="urn:microsoft.com/office/officeart/2005/8/layout/list1"/>
    <dgm:cxn modelId="{6659F7B5-D66D-4686-91A4-2F2041212722}" type="presParOf" srcId="{350A5EBE-B8A4-4E18-BE67-F48F76B53B3A}" destId="{75E89213-94D2-4E8B-A728-6F40573B3ABF}" srcOrd="9" destOrd="0" presId="urn:microsoft.com/office/officeart/2005/8/layout/list1"/>
    <dgm:cxn modelId="{10E993FD-5E5C-4D26-92D0-91302DA85D8D}" type="presParOf" srcId="{350A5EBE-B8A4-4E18-BE67-F48F76B53B3A}" destId="{0D3EB930-9030-406C-9995-072296DFE629}" srcOrd="10" destOrd="0" presId="urn:microsoft.com/office/officeart/2005/8/layout/list1"/>
    <dgm:cxn modelId="{D7C47876-873A-4207-9274-1808B6B89E3C}" type="presParOf" srcId="{350A5EBE-B8A4-4E18-BE67-F48F76B53B3A}" destId="{EC9F43F5-2D7C-44EA-9F19-CF611D322E38}" srcOrd="11" destOrd="0" presId="urn:microsoft.com/office/officeart/2005/8/layout/list1"/>
    <dgm:cxn modelId="{E348C5FF-831C-49F8-BC62-696A90198CEC}" type="presParOf" srcId="{350A5EBE-B8A4-4E18-BE67-F48F76B53B3A}" destId="{F9A70BB2-2A6B-492C-80D8-EC9ABF7938CD}" srcOrd="12" destOrd="0" presId="urn:microsoft.com/office/officeart/2005/8/layout/list1"/>
    <dgm:cxn modelId="{E4F879D4-EE05-480E-BA30-21C8889AE943}" type="presParOf" srcId="{F9A70BB2-2A6B-492C-80D8-EC9ABF7938CD}" destId="{86721AC0-162A-4B15-B35E-651D94399EDB}" srcOrd="0" destOrd="0" presId="urn:microsoft.com/office/officeart/2005/8/layout/list1"/>
    <dgm:cxn modelId="{9D6D5B12-BEC9-4466-BE19-19635BF21E19}" type="presParOf" srcId="{F9A70BB2-2A6B-492C-80D8-EC9ABF7938CD}" destId="{0BF16FFC-4D34-422D-AB5D-252CE72B843A}" srcOrd="1" destOrd="0" presId="urn:microsoft.com/office/officeart/2005/8/layout/list1"/>
    <dgm:cxn modelId="{87BBC255-ACC3-4BB0-9BD9-AB46BDA62354}" type="presParOf" srcId="{350A5EBE-B8A4-4E18-BE67-F48F76B53B3A}" destId="{677D12B1-671E-43A6-87C3-51B4ED20C53E}" srcOrd="13" destOrd="0" presId="urn:microsoft.com/office/officeart/2005/8/layout/list1"/>
    <dgm:cxn modelId="{9DC5512C-81CD-4072-B1B9-C847D837EC71}" type="presParOf" srcId="{350A5EBE-B8A4-4E18-BE67-F48F76B53B3A}" destId="{DA6F13A8-D9A3-424C-8471-CDA0BD43280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FD85C8-BFCC-4F3F-A627-85F1BA657564}">
      <dsp:nvSpPr>
        <dsp:cNvPr id="0" name=""/>
        <dsp:cNvSpPr/>
      </dsp:nvSpPr>
      <dsp:spPr>
        <a:xfrm>
          <a:off x="0" y="653699"/>
          <a:ext cx="1048702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F76E14-2F9C-40EF-AC99-93B2F96B61F4}">
      <dsp:nvSpPr>
        <dsp:cNvPr id="0" name=""/>
        <dsp:cNvSpPr/>
      </dsp:nvSpPr>
      <dsp:spPr>
        <a:xfrm>
          <a:off x="524351" y="432299"/>
          <a:ext cx="7340917" cy="442800"/>
        </a:xfrm>
        <a:prstGeom prst="roundRect">
          <a:avLst/>
        </a:prstGeom>
        <a:solidFill>
          <a:srgbClr val="156082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469" tIns="0" rIns="2774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Recognize the difference between reacting to a customer and responding to them</a:t>
          </a:r>
        </a:p>
      </dsp:txBody>
      <dsp:txXfrm>
        <a:off x="545967" y="453915"/>
        <a:ext cx="7297685" cy="399568"/>
      </dsp:txXfrm>
    </dsp:sp>
    <dsp:sp modelId="{79106186-3FA1-4348-8CE9-220489D11B5C}">
      <dsp:nvSpPr>
        <dsp:cNvPr id="0" name=""/>
        <dsp:cNvSpPr/>
      </dsp:nvSpPr>
      <dsp:spPr>
        <a:xfrm>
          <a:off x="0" y="1334099"/>
          <a:ext cx="1048702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4E6D09-2E68-4D53-8D14-6D2273B9084F}">
      <dsp:nvSpPr>
        <dsp:cNvPr id="0" name=""/>
        <dsp:cNvSpPr/>
      </dsp:nvSpPr>
      <dsp:spPr>
        <a:xfrm>
          <a:off x="524351" y="1112699"/>
          <a:ext cx="73409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469" tIns="0" rIns="2774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Acknowledge a customer's emotions before jumping to a fix</a:t>
          </a:r>
        </a:p>
      </dsp:txBody>
      <dsp:txXfrm>
        <a:off x="545967" y="1134315"/>
        <a:ext cx="7297685" cy="399568"/>
      </dsp:txXfrm>
    </dsp:sp>
    <dsp:sp modelId="{0D3EB930-9030-406C-9995-072296DFE629}">
      <dsp:nvSpPr>
        <dsp:cNvPr id="0" name=""/>
        <dsp:cNvSpPr/>
      </dsp:nvSpPr>
      <dsp:spPr>
        <a:xfrm>
          <a:off x="0" y="2014500"/>
          <a:ext cx="1048702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6EC68-3956-4EC7-8F20-25C21814CAFF}">
      <dsp:nvSpPr>
        <dsp:cNvPr id="0" name=""/>
        <dsp:cNvSpPr/>
      </dsp:nvSpPr>
      <dsp:spPr>
        <a:xfrm>
          <a:off x="524351" y="1793099"/>
          <a:ext cx="73409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469" tIns="0" rIns="2774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Take ownership of a problem instead of deflecting or passing it along</a:t>
          </a:r>
        </a:p>
      </dsp:txBody>
      <dsp:txXfrm>
        <a:off x="545967" y="1814715"/>
        <a:ext cx="7297685" cy="399568"/>
      </dsp:txXfrm>
    </dsp:sp>
    <dsp:sp modelId="{DA6F13A8-D9A3-424C-8471-CDA0BD43280A}">
      <dsp:nvSpPr>
        <dsp:cNvPr id="0" name=""/>
        <dsp:cNvSpPr/>
      </dsp:nvSpPr>
      <dsp:spPr>
        <a:xfrm>
          <a:off x="0" y="2694900"/>
          <a:ext cx="10487024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F16FFC-4D34-422D-AB5D-252CE72B843A}">
      <dsp:nvSpPr>
        <dsp:cNvPr id="0" name=""/>
        <dsp:cNvSpPr/>
      </dsp:nvSpPr>
      <dsp:spPr>
        <a:xfrm>
          <a:off x="524351" y="2473500"/>
          <a:ext cx="7340917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469" tIns="0" rIns="277469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Hold a policy boundary firmly while still offering the customer a way forward</a:t>
          </a:r>
        </a:p>
      </dsp:txBody>
      <dsp:txXfrm>
        <a:off x="545967" y="2495116"/>
        <a:ext cx="7297685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6A1F-52A7-E647-B82A-1528BE268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A3510-FCFD-1994-35D4-8B53E244F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D952B-81BA-3019-55B4-EED287B86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42111-7629-6129-6249-914758B6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9C2D8-06E8-F455-022C-1457AEA76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398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6EDB-2CD3-89A2-C613-529060529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9362C-DF42-F0CE-7F77-B2EF2A9578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6236CF-FBF3-D174-5E56-5092F646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95972-835C-FDBA-A1BA-75DB1B8B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E7AD79-7F5B-1E86-F767-ED7C345E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29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9FF1-2DD2-BDCD-D5AD-08DC5D5C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91FB6-0EF2-AC18-29C2-1A378EDB8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90EC2-BE44-8F95-8444-416365186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3E48C-8F22-824C-F048-909A393F2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B3A5C-B147-4E4B-A9EA-8F8D52B70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52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C177B-3F61-5027-FAD8-7E7A54E21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F2142-CCDF-5020-DE55-362F667677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5CC01F-7E30-AD7D-CD38-BFD5F17F7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DD9EB-0987-68CD-4D14-2E755AE8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64565-95A8-BF8A-A910-81A3D7C2B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4CE207-9A00-AB7E-0029-762726C9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68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707E3-8312-4D7C-B24B-0D247F1B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0BE62-FDD0-988A-4B93-A72A73981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B91D3-19BD-7B32-6DA5-5049EDB26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886C85-5867-B1C9-C609-33D89EF6DA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CCB31C-EEFD-B1AD-6D8C-782D8B98D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A9DD21-4CBE-9CE2-834F-22038E4F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4C3C93-B7C9-E593-C3A9-30660A1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B60B-F9D7-FDCD-13F5-201A0F21B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959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C398-ABBF-383A-A4E1-B956BEE7E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31E227-5B52-39B8-851A-B3F16D940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435575-EABB-D95C-3151-C2CD84DF9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F158C-8157-04E9-48F1-E48B9AFCE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161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EBB37-E620-5818-B0D5-42C5BE86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D9761E-14F6-593F-321E-2E8C619CA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0FBCD4-E2AD-B6F2-D352-E457D46B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97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1F497-99FD-EA93-96A7-D8824E1C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D5C34-1A10-AEF1-542C-63631D321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F3EC4-120F-0CF9-1733-82016E04E0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0B6924-ED5B-6A3E-0FEC-66B39114C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9CD8D-56F7-7C75-433F-5B49FE3E7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8B1F3-03DC-E966-C7E0-442C9DF4B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60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9936-B1D6-D8C3-EAA4-744D8E30E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F1BDA2-6E96-E779-0A64-C517B5B742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603F6-6EAA-4E4E-1C8A-650AE81A9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E693BE-DB6D-39B8-036B-9FF1DAF84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1A7829-5AB7-97F1-A0B6-9849F179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436D9B-6144-4E8B-BB5C-553E1269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2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F611D-0592-6F34-8FA0-073DA98A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DD9221-A007-B191-9275-CBB0802182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BD9AA-E602-D851-B7A6-F55E3257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6FD99-4594-2753-66F6-C418E54A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BDBF4-203A-738C-EEFD-BCB50713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9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7FC786-3B19-5348-5BC6-8AB94C1EB6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423946-BD96-3D1D-7B06-45E933605E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60CD2-450A-2524-136F-6CCB13D21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9F5C7-8A20-1444-A45D-AA3EAEC32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006FA-C709-7D96-974F-7C98F0753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24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02B7F4-15E7-9DDA-1BFD-B126E8B7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07C52-8015-A3BC-0186-5608A5335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513FE-1009-E7DD-87A0-5341FBEB51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13BBE-ADAE-43B3-835A-BC16F9507CA0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869DF-44B2-D439-9FF5-EB42B1894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78BFAC-5607-0F5B-0869-50B489BDB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23B50C-5CC0-4874-BAB9-62839B425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8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4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slide" Target="slide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9.xml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6.xml"/><Relationship Id="rId4" Type="http://schemas.openxmlformats.org/officeDocument/2006/relationships/slide" Target="slide2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2">
            <a:extLst>
              <a:ext uri="{FF2B5EF4-FFF2-40B4-BE49-F238E27FC236}">
                <a16:creationId xmlns:a16="http://schemas.microsoft.com/office/drawing/2014/main" id="{D25E08A0-6B0D-61D7-C167-383CFAFE1AAC}"/>
              </a:ext>
            </a:extLst>
          </p:cNvPr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THE HEAT</a:t>
            </a:r>
            <a:endParaRPr lang="en-US" sz="1500" dirty="0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9D024172-F11D-4596-20C5-DCB15DF2D596}"/>
              </a:ext>
            </a:extLst>
          </p:cNvPr>
          <p:cNvSpPr/>
          <p:nvPr/>
        </p:nvSpPr>
        <p:spPr>
          <a:xfrm>
            <a:off x="822960" y="2788920"/>
            <a:ext cx="8397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De-escalation Scenarios for Customer-Facing Teams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4A4260BD-6746-B927-8DD7-B3C46E3EB4C3}"/>
              </a:ext>
            </a:extLst>
          </p:cNvPr>
          <p:cNvSpPr/>
          <p:nvPr/>
        </p:nvSpPr>
        <p:spPr>
          <a:xfrm>
            <a:off x="82296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branching-scenario course. Every choice you make changes what happens next.</a:t>
            </a:r>
            <a:endParaRPr lang="en-US" sz="15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F0AEA0-A24C-3575-A4B3-5FF652A71BCD}"/>
              </a:ext>
            </a:extLst>
          </p:cNvPr>
          <p:cNvSpPr/>
          <p:nvPr/>
        </p:nvSpPr>
        <p:spPr>
          <a:xfrm>
            <a:off x="10270156" y="0"/>
            <a:ext cx="1921844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E60781-5BDC-F85E-216C-624EC59022AA}"/>
              </a:ext>
            </a:extLst>
          </p:cNvPr>
          <p:cNvSpPr/>
          <p:nvPr/>
        </p:nvSpPr>
        <p:spPr>
          <a:xfrm>
            <a:off x="10270157" y="0"/>
            <a:ext cx="15400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97132"/>
              </a:solidFill>
            </a:endParaRPr>
          </a:p>
        </p:txBody>
      </p:sp>
      <p:sp>
        <p:nvSpPr>
          <p:cNvPr id="29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93E637A1-21DD-3490-5118-B4C2866CEDBD}"/>
              </a:ext>
            </a:extLst>
          </p:cNvPr>
          <p:cNvSpPr/>
          <p:nvPr/>
        </p:nvSpPr>
        <p:spPr>
          <a:xfrm>
            <a:off x="822960" y="4737735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here to Begin</a:t>
            </a:r>
          </a:p>
        </p:txBody>
      </p:sp>
    </p:spTree>
    <p:extLst>
      <p:ext uri="{BB962C8B-B14F-4D97-AF65-F5344CB8AC3E}">
        <p14:creationId xmlns:p14="http://schemas.microsoft.com/office/powerpoint/2010/main" val="1900330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7C134F-FC57-8C8A-DD69-B55755C27554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this Course Works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B37D67-33B9-D6D5-EA2E-7391690601E9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B6175F-FDF4-FA18-E81F-4C95ABD48FEA}"/>
              </a:ext>
            </a:extLst>
          </p:cNvPr>
          <p:cNvSpPr/>
          <p:nvPr/>
        </p:nvSpPr>
        <p:spPr>
          <a:xfrm>
            <a:off x="451945" y="1751623"/>
            <a:ext cx="4866289" cy="1460938"/>
          </a:xfrm>
          <a:prstGeom prst="rect">
            <a:avLst/>
          </a:prstGeom>
          <a:solidFill>
            <a:srgbClr val="EAF6F5"/>
          </a:solidFill>
          <a:ln>
            <a:noFill/>
          </a:ln>
          <a:effectLst>
            <a:glow>
              <a:schemeClr val="accent1">
                <a:alpha val="40000"/>
              </a:schemeClr>
            </a:glow>
            <a:outerShdw blurRad="76200" dist="25400" dir="5400000" algn="ctr" rotWithShape="0">
              <a:srgbClr val="000000">
                <a:alpha val="15000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T w="12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  <a:spcAft>
                <a:spcPts val="200"/>
              </a:spcAft>
            </a:pPr>
            <a:r>
              <a:rPr lang="en-US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scenario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500" dirty="0">
                <a:solidFill>
                  <a:srgbClr val="5B6B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Meet a customer and the situation they're bringing to you.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A7D61D-0C9A-10EB-423C-1870BB75EB38}"/>
              </a:ext>
            </a:extLst>
          </p:cNvPr>
          <p:cNvSpPr/>
          <p:nvPr/>
        </p:nvSpPr>
        <p:spPr>
          <a:xfrm>
            <a:off x="6681294" y="1751623"/>
            <a:ext cx="4866289" cy="1460938"/>
          </a:xfrm>
          <a:prstGeom prst="rect">
            <a:avLst/>
          </a:prstGeom>
          <a:solidFill>
            <a:srgbClr val="EAF6F5"/>
          </a:solidFill>
          <a:ln>
            <a:noFill/>
          </a:ln>
          <a:effectLst>
            <a:glow>
              <a:schemeClr val="accent1">
                <a:alpha val="40000"/>
              </a:schemeClr>
            </a:glow>
            <a:outerShdw blurRad="50800" dist="50800" dir="5400000" algn="ctr" rotWithShape="0">
              <a:srgbClr val="000000">
                <a:alpha val="15000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T w="12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  <a:spcAft>
                <a:spcPts val="200"/>
              </a:spcAft>
            </a:pPr>
            <a:r>
              <a:rPr lang="en-US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the response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5B6B6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one of three responses — there's no single script, but some choices work better than others.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A51352F-68E0-DCF2-C084-0DC426583884}"/>
              </a:ext>
            </a:extLst>
          </p:cNvPr>
          <p:cNvSpPr/>
          <p:nvPr/>
        </p:nvSpPr>
        <p:spPr>
          <a:xfrm>
            <a:off x="451945" y="3867808"/>
            <a:ext cx="4866289" cy="1460938"/>
          </a:xfrm>
          <a:prstGeom prst="rect">
            <a:avLst/>
          </a:prstGeom>
          <a:solidFill>
            <a:srgbClr val="EAF6F5"/>
          </a:solidFill>
          <a:ln>
            <a:noFill/>
          </a:ln>
          <a:effectLst>
            <a:glow>
              <a:schemeClr val="accent1">
                <a:alpha val="40000"/>
              </a:schemeClr>
            </a:glow>
            <a:outerShdw blurRad="50800" dist="50800" dir="5400000" algn="ctr" rotWithShape="0">
              <a:srgbClr val="000000">
                <a:alpha val="15000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T w="12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  <a:spcAft>
                <a:spcPts val="200"/>
              </a:spcAft>
            </a:pPr>
            <a:r>
              <a:rPr lang="en-US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what happens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1500" dirty="0">
                <a:solidFill>
                  <a:srgbClr val="5B6B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You'll get honest feedback on why a response helped or hurt the conversation.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FAFAF53-FD12-AA12-F02B-4E697C4BC232}"/>
              </a:ext>
            </a:extLst>
          </p:cNvPr>
          <p:cNvSpPr/>
          <p:nvPr/>
        </p:nvSpPr>
        <p:spPr>
          <a:xfrm>
            <a:off x="6681294" y="3867807"/>
            <a:ext cx="4866289" cy="1460938"/>
          </a:xfrm>
          <a:prstGeom prst="rect">
            <a:avLst/>
          </a:prstGeom>
          <a:solidFill>
            <a:srgbClr val="EAF6F5"/>
          </a:solidFill>
          <a:ln>
            <a:noFill/>
          </a:ln>
          <a:effectLst>
            <a:glow>
              <a:schemeClr val="accent1">
                <a:alpha val="40000"/>
              </a:schemeClr>
            </a:glow>
            <a:outerShdw blurRad="50800" dist="50800" dir="5400000" algn="ctr" rotWithShape="0">
              <a:srgbClr val="000000">
                <a:alpha val="15000"/>
              </a:srgbClr>
            </a:outerShdw>
            <a:softEdge rad="0"/>
          </a:effectLst>
          <a:scene3d>
            <a:camera prst="orthographicFront"/>
            <a:lightRig rig="threePt" dir="t"/>
          </a:scene3d>
          <a:sp3d>
            <a:bevelT w="12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  <a:spcAft>
                <a:spcPts val="200"/>
              </a:spcAft>
            </a:pPr>
            <a:r>
              <a:rPr lang="en-US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again if needed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5B6B6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Weaker choices send you back to try again. There's no penalty for a second attempt.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27E50336-775B-7A31-9FE8-5D3E8AA4ADC3}"/>
              </a:ext>
            </a:extLst>
          </p:cNvPr>
          <p:cNvSpPr/>
          <p:nvPr/>
        </p:nvSpPr>
        <p:spPr>
          <a:xfrm>
            <a:off x="525780" y="1807443"/>
            <a:ext cx="502920" cy="50292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DDD947C-C62F-3D0D-526C-933EDC020ADF}"/>
              </a:ext>
            </a:extLst>
          </p:cNvPr>
          <p:cNvSpPr/>
          <p:nvPr/>
        </p:nvSpPr>
        <p:spPr>
          <a:xfrm>
            <a:off x="525780" y="3962006"/>
            <a:ext cx="502920" cy="50292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0B4FD8C8-83E3-46DA-1143-5C2265930374}"/>
              </a:ext>
            </a:extLst>
          </p:cNvPr>
          <p:cNvSpPr/>
          <p:nvPr/>
        </p:nvSpPr>
        <p:spPr>
          <a:xfrm>
            <a:off x="6760056" y="3962006"/>
            <a:ext cx="502920" cy="50292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CB6B6AF-C878-1139-BD33-3F8410957AA6}"/>
              </a:ext>
            </a:extLst>
          </p:cNvPr>
          <p:cNvSpPr/>
          <p:nvPr/>
        </p:nvSpPr>
        <p:spPr>
          <a:xfrm>
            <a:off x="6760056" y="1807443"/>
            <a:ext cx="502920" cy="50292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25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24A198D8-F62F-DB5C-043A-D7894AA00ECA}"/>
              </a:ext>
            </a:extLst>
          </p:cNvPr>
          <p:cNvSpPr/>
          <p:nvPr/>
        </p:nvSpPr>
        <p:spPr>
          <a:xfrm>
            <a:off x="451945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here to continue</a:t>
            </a:r>
          </a:p>
        </p:txBody>
      </p:sp>
    </p:spTree>
    <p:extLst>
      <p:ext uri="{BB962C8B-B14F-4D97-AF65-F5344CB8AC3E}">
        <p14:creationId xmlns:p14="http://schemas.microsoft.com/office/powerpoint/2010/main" val="395215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05429-2398-DB8C-096E-77D9D2FD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BD3EBB-5AEB-79D1-8402-B34098E9DB36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Learning Objectives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DA0D2E-7403-E5D0-A4E6-E0C1FE1530E5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557FF6E-27CD-EB6A-241A-D63F460D15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6933418"/>
              </p:ext>
            </p:extLst>
          </p:nvPr>
        </p:nvGraphicFramePr>
        <p:xfrm>
          <a:off x="852487" y="1676400"/>
          <a:ext cx="10487025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hape 5">
            <a:hlinkClick r:id="rId7" action="ppaction://hlinksldjump"/>
            <a:extLst>
              <a:ext uri="{FF2B5EF4-FFF2-40B4-BE49-F238E27FC236}">
                <a16:creationId xmlns:a16="http://schemas.microsoft.com/office/drawing/2014/main" id="{D56489E0-740E-8A31-C477-21E64294ADD3}"/>
              </a:ext>
            </a:extLst>
          </p:cNvPr>
          <p:cNvSpPr/>
          <p:nvPr/>
        </p:nvSpPr>
        <p:spPr>
          <a:xfrm>
            <a:off x="451945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here to continue</a:t>
            </a: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786B46C-FCCA-1A88-7ED3-9A7DDCE3D179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the end of this course, you'll be able to:</a:t>
            </a:r>
          </a:p>
        </p:txBody>
      </p:sp>
    </p:spTree>
    <p:extLst>
      <p:ext uri="{BB962C8B-B14F-4D97-AF65-F5344CB8AC3E}">
        <p14:creationId xmlns:p14="http://schemas.microsoft.com/office/powerpoint/2010/main" val="290434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A4A4C8-87AB-F3EA-80F5-DBD2DADB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2">
            <a:extLst>
              <a:ext uri="{FF2B5EF4-FFF2-40B4-BE49-F238E27FC236}">
                <a16:creationId xmlns:a16="http://schemas.microsoft.com/office/drawing/2014/main" id="{CC063695-DCF4-7D63-71FD-F6041C88BF47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B9DAD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You'll see this pattern in every scenario ahead.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6F18E-F53C-EF9B-C734-534A17377465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r>
              <a:rPr lang="en-US" sz="32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C.A.L.M.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BE296E-E66D-94AC-4A35-C82B7EB6405E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9713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07AB60AD-A564-E374-5DC5-CE2A477D8C77}"/>
              </a:ext>
            </a:extLst>
          </p:cNvPr>
          <p:cNvSpPr/>
          <p:nvPr/>
        </p:nvSpPr>
        <p:spPr>
          <a:xfrm>
            <a:off x="451945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here to continue</a:t>
            </a:r>
          </a:p>
        </p:txBody>
      </p:sp>
      <p:sp>
        <p:nvSpPr>
          <p:cNvPr id="32" name="Shape 4">
            <a:extLst>
              <a:ext uri="{FF2B5EF4-FFF2-40B4-BE49-F238E27FC236}">
                <a16:creationId xmlns:a16="http://schemas.microsoft.com/office/drawing/2014/main" id="{163120C2-A435-19C4-B7C3-9B2525950DF9}"/>
              </a:ext>
            </a:extLst>
          </p:cNvPr>
          <p:cNvSpPr/>
          <p:nvPr/>
        </p:nvSpPr>
        <p:spPr>
          <a:xfrm>
            <a:off x="548640" y="1900797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3695E10B-B0D8-C522-8854-82DB4E76DAC1}"/>
              </a:ext>
            </a:extLst>
          </p:cNvPr>
          <p:cNvSpPr/>
          <p:nvPr/>
        </p:nvSpPr>
        <p:spPr>
          <a:xfrm>
            <a:off x="1440180" y="2220837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131813D1-70E3-2B3C-9659-D955A5FEC21F}"/>
              </a:ext>
            </a:extLst>
          </p:cNvPr>
          <p:cNvSpPr/>
          <p:nvPr/>
        </p:nvSpPr>
        <p:spPr>
          <a:xfrm>
            <a:off x="1440180" y="2220837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13A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49806683-1CFF-E351-C546-E2DD5AEA5818}"/>
              </a:ext>
            </a:extLst>
          </p:cNvPr>
          <p:cNvSpPr/>
          <p:nvPr/>
        </p:nvSpPr>
        <p:spPr>
          <a:xfrm>
            <a:off x="685800" y="322667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 Yourself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58271769-F1A5-DA9B-77FD-A7027BB252A7}"/>
              </a:ext>
            </a:extLst>
          </p:cNvPr>
          <p:cNvSpPr/>
          <p:nvPr/>
        </p:nvSpPr>
        <p:spPr>
          <a:xfrm>
            <a:off x="731520" y="3775317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Pause before you respond. Your tone matters as much as your words.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C4A2CB52-205C-E411-FB36-E4035EA8729F}"/>
              </a:ext>
            </a:extLst>
          </p:cNvPr>
          <p:cNvSpPr/>
          <p:nvPr/>
        </p:nvSpPr>
        <p:spPr>
          <a:xfrm>
            <a:off x="3383280" y="1900797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E4E46F94-2240-EBA7-2D35-682B226178BB}"/>
              </a:ext>
            </a:extLst>
          </p:cNvPr>
          <p:cNvSpPr/>
          <p:nvPr/>
        </p:nvSpPr>
        <p:spPr>
          <a:xfrm>
            <a:off x="4274820" y="2220837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Text 11">
            <a:extLst>
              <a:ext uri="{FF2B5EF4-FFF2-40B4-BE49-F238E27FC236}">
                <a16:creationId xmlns:a16="http://schemas.microsoft.com/office/drawing/2014/main" id="{2AE63FC1-9A9F-EAAB-A631-0CE18C589E06}"/>
              </a:ext>
            </a:extLst>
          </p:cNvPr>
          <p:cNvSpPr/>
          <p:nvPr/>
        </p:nvSpPr>
        <p:spPr>
          <a:xfrm>
            <a:off x="4274820" y="2220837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13A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8CDED99D-00C3-42DC-84AE-5A5457834467}"/>
              </a:ext>
            </a:extLst>
          </p:cNvPr>
          <p:cNvSpPr/>
          <p:nvPr/>
        </p:nvSpPr>
        <p:spPr>
          <a:xfrm>
            <a:off x="3520440" y="322667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Acknowledge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3994B526-6337-3787-9D1B-92133400CB00}"/>
              </a:ext>
            </a:extLst>
          </p:cNvPr>
          <p:cNvSpPr/>
          <p:nvPr/>
        </p:nvSpPr>
        <p:spPr>
          <a:xfrm>
            <a:off x="3566160" y="3775317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 what the customer is feeling before you move to a solution.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Shape 14">
            <a:extLst>
              <a:ext uri="{FF2B5EF4-FFF2-40B4-BE49-F238E27FC236}">
                <a16:creationId xmlns:a16="http://schemas.microsoft.com/office/drawing/2014/main" id="{1A5C9D44-D6F3-A843-7BE0-310DB7D22204}"/>
              </a:ext>
            </a:extLst>
          </p:cNvPr>
          <p:cNvSpPr/>
          <p:nvPr/>
        </p:nvSpPr>
        <p:spPr>
          <a:xfrm>
            <a:off x="6217920" y="1900797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5A123EF4-2539-6FE0-9576-17DDDB4783B1}"/>
              </a:ext>
            </a:extLst>
          </p:cNvPr>
          <p:cNvSpPr/>
          <p:nvPr/>
        </p:nvSpPr>
        <p:spPr>
          <a:xfrm>
            <a:off x="7109460" y="2220837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Text 16">
            <a:extLst>
              <a:ext uri="{FF2B5EF4-FFF2-40B4-BE49-F238E27FC236}">
                <a16:creationId xmlns:a16="http://schemas.microsoft.com/office/drawing/2014/main" id="{2E0CF032-0584-380D-8CA3-76E64318FA72}"/>
              </a:ext>
            </a:extLst>
          </p:cNvPr>
          <p:cNvSpPr/>
          <p:nvPr/>
        </p:nvSpPr>
        <p:spPr>
          <a:xfrm>
            <a:off x="7109460" y="2220837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13A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3508910E-71E8-084F-4127-80A6258EA314}"/>
              </a:ext>
            </a:extLst>
          </p:cNvPr>
          <p:cNvSpPr/>
          <p:nvPr/>
        </p:nvSpPr>
        <p:spPr>
          <a:xfrm>
            <a:off x="6355080" y="322667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Listen Fully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EE84E226-0663-9C7F-3C93-0B41DF6DF953}"/>
              </a:ext>
            </a:extLst>
          </p:cNvPr>
          <p:cNvSpPr/>
          <p:nvPr/>
        </p:nvSpPr>
        <p:spPr>
          <a:xfrm>
            <a:off x="6400800" y="3775317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them finish. Don't plan your rebuttal while they're still talking.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2" name="Shape 19">
            <a:extLst>
              <a:ext uri="{FF2B5EF4-FFF2-40B4-BE49-F238E27FC236}">
                <a16:creationId xmlns:a16="http://schemas.microsoft.com/office/drawing/2014/main" id="{AD47A0B5-710C-580C-771D-946EF6774EF8}"/>
              </a:ext>
            </a:extLst>
          </p:cNvPr>
          <p:cNvSpPr/>
          <p:nvPr/>
        </p:nvSpPr>
        <p:spPr>
          <a:xfrm>
            <a:off x="9052560" y="1900797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Shape 20">
            <a:extLst>
              <a:ext uri="{FF2B5EF4-FFF2-40B4-BE49-F238E27FC236}">
                <a16:creationId xmlns:a16="http://schemas.microsoft.com/office/drawing/2014/main" id="{34BA679F-AAC3-7E1A-CB1D-D4B01C28EAF4}"/>
              </a:ext>
            </a:extLst>
          </p:cNvPr>
          <p:cNvSpPr/>
          <p:nvPr/>
        </p:nvSpPr>
        <p:spPr>
          <a:xfrm>
            <a:off x="9944100" y="2220837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C5AB7016-9CD8-A788-283E-71A0D96731E5}"/>
              </a:ext>
            </a:extLst>
          </p:cNvPr>
          <p:cNvSpPr/>
          <p:nvPr/>
        </p:nvSpPr>
        <p:spPr>
          <a:xfrm>
            <a:off x="9944100" y="2220837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13A4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Text 22">
            <a:extLst>
              <a:ext uri="{FF2B5EF4-FFF2-40B4-BE49-F238E27FC236}">
                <a16:creationId xmlns:a16="http://schemas.microsoft.com/office/drawing/2014/main" id="{347581DF-0337-8563-4797-D36C9B62B323}"/>
              </a:ext>
            </a:extLst>
          </p:cNvPr>
          <p:cNvSpPr/>
          <p:nvPr/>
        </p:nvSpPr>
        <p:spPr>
          <a:xfrm>
            <a:off x="9189720" y="3226677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Forward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Text 23">
            <a:extLst>
              <a:ext uri="{FF2B5EF4-FFF2-40B4-BE49-F238E27FC236}">
                <a16:creationId xmlns:a16="http://schemas.microsoft.com/office/drawing/2014/main" id="{89B735C7-6767-17BB-7937-B1F1BDB34F57}"/>
              </a:ext>
            </a:extLst>
          </p:cNvPr>
          <p:cNvSpPr/>
          <p:nvPr/>
        </p:nvSpPr>
        <p:spPr>
          <a:xfrm>
            <a:off x="9235440" y="3775317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Offer a concrete next step — together, not at them.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734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E50935-0ADA-1F85-3024-1093B60DBCEC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Choose Where to Start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A6F34C-3CB1-68E1-81D6-5E72E8D8445A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263FA920-71D6-24BA-E198-BCA6FA155108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Every path returns here, so feel free to explore them in any order.</a:t>
            </a:r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F25B7DA9-EB2B-6306-759F-CFEE1D22228A}"/>
              </a:ext>
            </a:extLst>
          </p:cNvPr>
          <p:cNvSpPr/>
          <p:nvPr/>
        </p:nvSpPr>
        <p:spPr>
          <a:xfrm>
            <a:off x="548640" y="1807845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C4CE58E-80EA-FBC2-D402-3E412C31BDB9}"/>
              </a:ext>
            </a:extLst>
          </p:cNvPr>
          <p:cNvSpPr/>
          <p:nvPr/>
        </p:nvSpPr>
        <p:spPr>
          <a:xfrm>
            <a:off x="731520" y="2036445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01</a:t>
            </a:r>
            <a:endParaRPr lang="en-US" sz="2600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46F16C4-49EF-1B93-A777-AC3CB1760EEA}"/>
              </a:ext>
            </a:extLst>
          </p:cNvPr>
          <p:cNvSpPr/>
          <p:nvPr/>
        </p:nvSpPr>
        <p:spPr>
          <a:xfrm>
            <a:off x="731520" y="2767965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Angry Caller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78750DA9-8B73-E4D1-106D-9538CF8F225B}"/>
              </a:ext>
            </a:extLst>
          </p:cNvPr>
          <p:cNvSpPr/>
          <p:nvPr/>
        </p:nvSpPr>
        <p:spPr>
          <a:xfrm>
            <a:off x="731520" y="3499485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billing error, and a customer who's already raised his voice.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67D15AAA-586D-5485-4CDC-646037356E98}"/>
              </a:ext>
            </a:extLst>
          </p:cNvPr>
          <p:cNvSpPr/>
          <p:nvPr/>
        </p:nvSpPr>
        <p:spPr>
          <a:xfrm>
            <a:off x="3383280" y="1807845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772144B-E6F9-BFEB-4AB9-4BD77B9451A4}"/>
              </a:ext>
            </a:extLst>
          </p:cNvPr>
          <p:cNvSpPr/>
          <p:nvPr/>
        </p:nvSpPr>
        <p:spPr>
          <a:xfrm>
            <a:off x="3566160" y="2036445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02</a:t>
            </a:r>
            <a:endParaRPr lang="en-US" sz="2600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FFB1A2F3-9ECD-A396-CB26-AAF03BD101DE}"/>
              </a:ext>
            </a:extLst>
          </p:cNvPr>
          <p:cNvSpPr/>
          <p:nvPr/>
        </p:nvSpPr>
        <p:spPr>
          <a:xfrm>
            <a:off x="3566160" y="2767965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Repeat Complainer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3EAC4EED-32EA-C3E8-0BA0-344517E5DC19}"/>
              </a:ext>
            </a:extLst>
          </p:cNvPr>
          <p:cNvSpPr/>
          <p:nvPr/>
        </p:nvSpPr>
        <p:spPr>
          <a:xfrm>
            <a:off x="3566160" y="3499485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dirty="0">
                <a:solidFill>
                  <a:srgbClr val="5B6B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Third call, same issue — and fading patience.</a:t>
            </a:r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575A69C0-E92E-BB5A-454C-8C32DB7E475C}"/>
              </a:ext>
            </a:extLst>
          </p:cNvPr>
          <p:cNvSpPr/>
          <p:nvPr/>
        </p:nvSpPr>
        <p:spPr>
          <a:xfrm>
            <a:off x="6217920" y="1807845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17">
            <a:extLst>
              <a:ext uri="{FF2B5EF4-FFF2-40B4-BE49-F238E27FC236}">
                <a16:creationId xmlns:a16="http://schemas.microsoft.com/office/drawing/2014/main" id="{0B252836-32F5-6519-A9A5-0AC38B2DA854}"/>
              </a:ext>
            </a:extLst>
          </p:cNvPr>
          <p:cNvSpPr/>
          <p:nvPr/>
        </p:nvSpPr>
        <p:spPr>
          <a:xfrm>
            <a:off x="6400800" y="2036445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5608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03</a:t>
            </a:r>
            <a:endParaRPr lang="en-US" sz="2600" dirty="0">
              <a:solidFill>
                <a:srgbClr val="15608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88C70D97-6741-F312-693D-43A396A64A30}"/>
              </a:ext>
            </a:extLst>
          </p:cNvPr>
          <p:cNvSpPr/>
          <p:nvPr/>
        </p:nvSpPr>
        <p:spPr>
          <a:xfrm>
            <a:off x="6400800" y="2767965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Unreasonable Request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465B52B5-098F-710C-BC48-9304349E873A}"/>
              </a:ext>
            </a:extLst>
          </p:cNvPr>
          <p:cNvSpPr/>
          <p:nvPr/>
        </p:nvSpPr>
        <p:spPr>
          <a:xfrm>
            <a:off x="6400800" y="3499485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B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policy line, and a threat to walk away unhappy.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Shape 22">
            <a:extLst>
              <a:ext uri="{FF2B5EF4-FFF2-40B4-BE49-F238E27FC236}">
                <a16:creationId xmlns:a16="http://schemas.microsoft.com/office/drawing/2014/main" id="{0F091680-E71C-E92F-E84E-A4378F8244F3}"/>
              </a:ext>
            </a:extLst>
          </p:cNvPr>
          <p:cNvSpPr/>
          <p:nvPr/>
        </p:nvSpPr>
        <p:spPr>
          <a:xfrm>
            <a:off x="9052560" y="1807845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BC7B9F39-9BD2-0BE5-49B3-1AA50B5EE4F8}"/>
              </a:ext>
            </a:extLst>
          </p:cNvPr>
          <p:cNvSpPr/>
          <p:nvPr/>
        </p:nvSpPr>
        <p:spPr>
          <a:xfrm>
            <a:off x="9235440" y="2036445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C39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2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60CF6893-D29A-A787-C25C-4A2938F5C6AA}"/>
              </a:ext>
            </a:extLst>
          </p:cNvPr>
          <p:cNvSpPr/>
          <p:nvPr/>
        </p:nvSpPr>
        <p:spPr>
          <a:xfrm>
            <a:off x="9235440" y="2767965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Challenge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B0015BD4-EF3A-68AC-00B7-9D6D5D2BCB12}"/>
              </a:ext>
            </a:extLst>
          </p:cNvPr>
          <p:cNvSpPr/>
          <p:nvPr/>
        </p:nvSpPr>
        <p:spPr>
          <a:xfrm>
            <a:off x="9235440" y="3499485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 every skill together in one live chat conversation.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Shape 14">
            <a:hlinkClick r:id="rId2" action="ppaction://hlinksldjump"/>
            <a:extLst>
              <a:ext uri="{FF2B5EF4-FFF2-40B4-BE49-F238E27FC236}">
                <a16:creationId xmlns:a16="http://schemas.microsoft.com/office/drawing/2014/main" id="{0837B311-F0DA-8969-E4AB-7C4524F0D0EE}"/>
              </a:ext>
            </a:extLst>
          </p:cNvPr>
          <p:cNvSpPr/>
          <p:nvPr/>
        </p:nvSpPr>
        <p:spPr>
          <a:xfrm>
            <a:off x="3566160" y="5053965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56082"/>
          </a:solidFill>
          <a:ln w="1905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277469" tIns="0" rIns="277469" bIns="0" numCol="1" spcCol="1270" anchor="ctr" anchorCtr="1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Scenario 2</a:t>
            </a:r>
          </a:p>
        </p:txBody>
      </p:sp>
      <p:sp>
        <p:nvSpPr>
          <p:cNvPr id="45" name="Shape 20">
            <a:hlinkClick r:id="rId3" action="ppaction://hlinksldjump"/>
            <a:extLst>
              <a:ext uri="{FF2B5EF4-FFF2-40B4-BE49-F238E27FC236}">
                <a16:creationId xmlns:a16="http://schemas.microsoft.com/office/drawing/2014/main" id="{E312036E-F10F-DA1B-0BF4-03D2C18198A5}"/>
              </a:ext>
            </a:extLst>
          </p:cNvPr>
          <p:cNvSpPr/>
          <p:nvPr/>
        </p:nvSpPr>
        <p:spPr>
          <a:xfrm>
            <a:off x="6400800" y="5053965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56082"/>
          </a:solidFill>
          <a:ln w="1905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277469" tIns="0" rIns="277469" bIns="0" numCol="1" spcCol="1270" anchor="ctr" anchorCtr="1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Scenario 3</a:t>
            </a:r>
          </a:p>
        </p:txBody>
      </p:sp>
      <p:sp>
        <p:nvSpPr>
          <p:cNvPr id="47" name="Shape 26">
            <a:hlinkClick r:id="rId4" action="ppaction://hlinksldjump"/>
            <a:extLst>
              <a:ext uri="{FF2B5EF4-FFF2-40B4-BE49-F238E27FC236}">
                <a16:creationId xmlns:a16="http://schemas.microsoft.com/office/drawing/2014/main" id="{5DF80A31-5DEC-7EC1-1304-303583C24447}"/>
              </a:ext>
            </a:extLst>
          </p:cNvPr>
          <p:cNvSpPr/>
          <p:nvPr/>
        </p:nvSpPr>
        <p:spPr>
          <a:xfrm>
            <a:off x="9235440" y="5053965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 to Final Challenge</a:t>
            </a:r>
          </a:p>
        </p:txBody>
      </p:sp>
      <p:sp>
        <p:nvSpPr>
          <p:cNvPr id="49" name="Shape 14">
            <a:hlinkClick r:id="rId5" action="ppaction://hlinksldjump"/>
            <a:extLst>
              <a:ext uri="{FF2B5EF4-FFF2-40B4-BE49-F238E27FC236}">
                <a16:creationId xmlns:a16="http://schemas.microsoft.com/office/drawing/2014/main" id="{73FB5BB8-3358-6DB7-1193-39C1107BEF57}"/>
              </a:ext>
            </a:extLst>
          </p:cNvPr>
          <p:cNvSpPr/>
          <p:nvPr/>
        </p:nvSpPr>
        <p:spPr>
          <a:xfrm>
            <a:off x="731520" y="5053965"/>
            <a:ext cx="2240280" cy="411480"/>
          </a:xfrm>
          <a:prstGeom prst="roundRect">
            <a:avLst>
              <a:gd name="adj" fmla="val 17778"/>
            </a:avLst>
          </a:prstGeom>
          <a:solidFill>
            <a:srgbClr val="156082"/>
          </a:solidFill>
          <a:ln w="19050" cap="flat" cmpd="sng" algn="ctr">
            <a:solidFill>
              <a:prstClr val="white">
                <a:hueOff val="0"/>
                <a:satOff val="0"/>
                <a:lumOff val="0"/>
                <a:alphaOff val="0"/>
              </a:prstClr>
            </a:solidFill>
            <a:prstDash val="solid"/>
            <a:miter lim="800000"/>
          </a:ln>
          <a:effectLst/>
        </p:spPr>
        <p:txBody>
          <a:bodyPr spcFirstLastPara="0" vert="horz" wrap="square" lIns="277469" tIns="0" rIns="277469" bIns="0" numCol="1" spcCol="1270" anchor="ctr" anchorCtr="1">
            <a:no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 Scenario 1</a:t>
            </a:r>
          </a:p>
        </p:txBody>
      </p:sp>
    </p:spTree>
    <p:extLst>
      <p:ext uri="{BB962C8B-B14F-4D97-AF65-F5344CB8AC3E}">
        <p14:creationId xmlns:p14="http://schemas.microsoft.com/office/powerpoint/2010/main" val="4024472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A0205-5783-D862-E1F0-E5C2AC3C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297F82-B4E0-BBF7-6BC1-65F870B0042E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Angry Caller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F3A538-2210-F565-09A3-B73575078A2C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9E8262C-5E08-4FA8-733B-1098520016ED}"/>
              </a:ext>
            </a:extLst>
          </p:cNvPr>
          <p:cNvSpPr/>
          <p:nvPr/>
        </p:nvSpPr>
        <p:spPr>
          <a:xfrm>
            <a:off x="451945" y="1703841"/>
            <a:ext cx="5120640" cy="4075086"/>
          </a:xfrm>
          <a:prstGeom prst="roundRect">
            <a:avLst>
              <a:gd name="adj" fmla="val 2222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 sz="1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B6880BCD-0C96-BEB5-983A-9ED20FC81EBE}"/>
              </a:ext>
            </a:extLst>
          </p:cNvPr>
          <p:cNvSpPr/>
          <p:nvPr/>
        </p:nvSpPr>
        <p:spPr>
          <a:xfrm>
            <a:off x="771985" y="1961981"/>
            <a:ext cx="1005840" cy="10058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448BE5F6-2C7C-B48A-060E-FD4281F54BF3}"/>
              </a:ext>
            </a:extLst>
          </p:cNvPr>
          <p:cNvSpPr/>
          <p:nvPr/>
        </p:nvSpPr>
        <p:spPr>
          <a:xfrm>
            <a:off x="1960705" y="2099141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Jordan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A04627F4-A113-D308-A3EB-6E9116C74BDC}"/>
              </a:ext>
            </a:extLst>
          </p:cNvPr>
          <p:cNvSpPr/>
          <p:nvPr/>
        </p:nvSpPr>
        <p:spPr>
          <a:xfrm>
            <a:off x="1960705" y="246490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9BEE06FA-700D-2038-02AD-3B4898673449}"/>
              </a:ext>
            </a:extLst>
          </p:cNvPr>
          <p:cNvSpPr/>
          <p:nvPr/>
        </p:nvSpPr>
        <p:spPr>
          <a:xfrm>
            <a:off x="771985" y="3242141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Jordan calls in, upset about being billed twice for the same order.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A1B84638-E491-3A1F-0687-33CB38A0083C}"/>
              </a:ext>
            </a:extLst>
          </p:cNvPr>
          <p:cNvSpPr/>
          <p:nvPr/>
        </p:nvSpPr>
        <p:spPr>
          <a:xfrm>
            <a:off x="771985" y="4339421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199979DB-8DCF-C3A4-C5AA-6CCCE43549BC}"/>
              </a:ext>
            </a:extLst>
          </p:cNvPr>
          <p:cNvSpPr/>
          <p:nvPr/>
        </p:nvSpPr>
        <p:spPr>
          <a:xfrm>
            <a:off x="1000585" y="4430861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“You people charged me twice! This is ridiculous — I want this fixed right now!”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Shape 13">
            <a:hlinkClick r:id="rId2" action="ppaction://hlinksldjump"/>
            <a:extLst>
              <a:ext uri="{FF2B5EF4-FFF2-40B4-BE49-F238E27FC236}">
                <a16:creationId xmlns:a16="http://schemas.microsoft.com/office/drawing/2014/main" id="{E5C211A0-567D-5BDB-6FBF-46C5515CF1A0}"/>
              </a:ext>
            </a:extLst>
          </p:cNvPr>
          <p:cNvSpPr/>
          <p:nvPr/>
        </p:nvSpPr>
        <p:spPr>
          <a:xfrm>
            <a:off x="6126480" y="5852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  <p:sp>
        <p:nvSpPr>
          <p:cNvPr id="59" name="Shape 15">
            <a:hlinkClick r:id="rId3" action="ppaction://hlinksldjump"/>
            <a:extLst>
              <a:ext uri="{FF2B5EF4-FFF2-40B4-BE49-F238E27FC236}">
                <a16:creationId xmlns:a16="http://schemas.microsoft.com/office/drawing/2014/main" id="{07E14E82-DB45-8973-CE26-33DB9AA2ECAD}"/>
              </a:ext>
            </a:extLst>
          </p:cNvPr>
          <p:cNvSpPr/>
          <p:nvPr/>
        </p:nvSpPr>
        <p:spPr>
          <a:xfrm>
            <a:off x="7988454" y="5852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</a:t>
            </a: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546E2322-35EB-1092-23B0-FC0C3D930C7C}"/>
              </a:ext>
            </a:extLst>
          </p:cNvPr>
          <p:cNvSpPr/>
          <p:nvPr/>
        </p:nvSpPr>
        <p:spPr>
          <a:xfrm>
            <a:off x="6126480" y="1776293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Task</a:t>
            </a:r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AC7D734E-AF48-FF2A-7BB6-D1CC2E48BBD4}"/>
              </a:ext>
            </a:extLst>
          </p:cNvPr>
          <p:cNvSpPr/>
          <p:nvPr/>
        </p:nvSpPr>
        <p:spPr>
          <a:xfrm>
            <a:off x="6126480" y="2506944"/>
            <a:ext cx="5613575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situation, then choose how you'd respond in the moment. There's no perfect script — only choices that build trust, and choices that break it.</a:t>
            </a:r>
          </a:p>
          <a:p>
            <a:pPr algn="ctr"/>
            <a:endParaRPr lang="en-US" sz="15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6B93820-36B9-CC25-063A-81C9791DE551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1</a:t>
            </a:r>
          </a:p>
        </p:txBody>
      </p:sp>
    </p:spTree>
    <p:extLst>
      <p:ext uri="{BB962C8B-B14F-4D97-AF65-F5344CB8AC3E}">
        <p14:creationId xmlns:p14="http://schemas.microsoft.com/office/powerpoint/2010/main" val="1466757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CDD37-4161-1C84-486A-1CB463A66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7974A9B-FC61-91D5-A97A-D3949CE4ED4D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respond first?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F5BA95-1E6C-37C0-DFC5-6C54F552F921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A05C25C2-9BE1-F9B5-A55C-3FCEA2081535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1: Click a response to see what happens next.</a:t>
            </a:r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3BF349DE-C2BC-5ECE-2037-6DD0AA24F598}"/>
              </a:ext>
            </a:extLst>
          </p:cNvPr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 anchor="ctr" anchorCtr="0"/>
          <a:lstStyle/>
          <a:p>
            <a:r>
              <a:rPr lang="en-US" sz="15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“You people charged me twice! This is ridiculous — I want this fixed right now!”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CB350A44-9668-630D-66D6-B936FCA99807}"/>
              </a:ext>
            </a:extLst>
          </p:cNvPr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/>
              </a:rPr>
              <a:t>“Sir, I need you to calm down so I can help you.”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9">
            <a:hlinkClick r:id="rId3" action="ppaction://hlinksldjump"/>
            <a:extLst>
              <a:ext uri="{FF2B5EF4-FFF2-40B4-BE49-F238E27FC236}">
                <a16:creationId xmlns:a16="http://schemas.microsoft.com/office/drawing/2014/main" id="{6BA7F0CE-B3B8-33D3-4718-41FF2ADF5556}"/>
              </a:ext>
            </a:extLst>
          </p:cNvPr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“I can process a refund for you right now.”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13">
            <a:hlinkClick r:id="rId4" action="ppaction://hlinksldjump"/>
            <a:extLst>
              <a:ext uri="{FF2B5EF4-FFF2-40B4-BE49-F238E27FC236}">
                <a16:creationId xmlns:a16="http://schemas.microsoft.com/office/drawing/2014/main" id="{E63C91EC-EDD8-A5AA-2CA2-52C340F2FEA5}"/>
              </a:ext>
            </a:extLst>
          </p:cNvPr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“I hear how frustrating that is — I’d be upset too. Let’s fix this together. Can you confirm the order number?”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F8B5A9CE-B7E4-7431-BE7F-BE515EF37239}"/>
              </a:ext>
            </a:extLst>
          </p:cNvPr>
          <p:cNvSpPr/>
          <p:nvPr/>
        </p:nvSpPr>
        <p:spPr>
          <a:xfrm>
            <a:off x="777240" y="313639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97" name="Shape 10">
            <a:extLst>
              <a:ext uri="{FF2B5EF4-FFF2-40B4-BE49-F238E27FC236}">
                <a16:creationId xmlns:a16="http://schemas.microsoft.com/office/drawing/2014/main" id="{B266DB6A-3561-0D03-30DD-5EEFB6416267}"/>
              </a:ext>
            </a:extLst>
          </p:cNvPr>
          <p:cNvSpPr/>
          <p:nvPr/>
        </p:nvSpPr>
        <p:spPr>
          <a:xfrm>
            <a:off x="777240" y="437083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C525D6A9-593F-5831-EC18-07A7AD79CC3F}"/>
              </a:ext>
            </a:extLst>
          </p:cNvPr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609362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CAA10-5A15-F099-BEB8-EC12D6390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741E5B-D9A1-B070-A419-88F496F71ED3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A – Not Quite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3079B3-6105-65D4-AD5A-8192F611DD6D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7CA06F2E-43B8-556A-267F-8CFB9A5C95CA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1: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883866B4-FA12-29B5-66C5-1B3E5EA97563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“Sir, I need you to calm down so I can help you.”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F84CF3DD-E4D7-6A34-D38D-CF668535CBCD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FB64E3C2-A3B7-9675-B11F-FF1BF0C9BC0F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Telling someone to “calm down” almost always backfires. It sounds dismissive, even when you mean well, and tends to make anger worse rather than better.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89771622-FB1A-094A-9B38-829BDF39767D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again</a:t>
            </a:r>
          </a:p>
        </p:txBody>
      </p:sp>
      <p:sp>
        <p:nvSpPr>
          <p:cNvPr id="13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2CD61EC7-703F-8574-EE41-3715D3EDCA0B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2219583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E5761-7028-13A1-8235-194F632AD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ABCE739-314A-5D77-0269-C6755062B9D0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B – Room to Improve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00F83-C8B1-BE15-0AAA-BB84673FF337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8EF4F4E9-7E20-DDB7-2EBF-A5A48F9773D4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1: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8919D274-540C-2968-C9D0-942F4ED1BA05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can process a refund for you right now.”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FB7E0A4D-2B9A-C7F4-B22E-E6B2CFB19EDA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B0BA4D3-878D-EC74-D81C-2537D507CC00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Solving the problem fast is a good instinct — but jumping straight to a fix without acknowledging how Jordan feels can come across as transactional. He may still feel unheard.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0AAFFED9-DD81-D95F-3AD4-F85117454F79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again</a:t>
            </a:r>
          </a:p>
        </p:txBody>
      </p:sp>
      <p:sp>
        <p:nvSpPr>
          <p:cNvPr id="4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B0DDD13C-A98E-81E9-6D92-DF4F1761FE19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3851417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18A8-279D-9013-F8A4-3BF1E8B9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72860DB-8083-36DA-3E40-25C199DD4DAA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C – Strong Response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1D5540-AF02-2479-CA8E-A742D842B83C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CA4C8E2A-A354-1DC5-25DE-C8CB778BCF8F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1: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B172B5A6-2432-38ED-0983-5C453EA6FF7E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hear how frustrating that is — I’d be upset too. Let’s fix this together. Can you confirm the order number?”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A3FBCB2E-637A-BEED-6674-547908601092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E5A2673-08B6-FED5-4F12-8F81B9D1051F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acknowledged the emotion before moving to action. That lowers defensiveness and builds trust before you've even solved the problem.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185F118D-36A8-D0F2-35B1-DFDEAB6D0BE1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</a:t>
            </a:r>
          </a:p>
        </p:txBody>
      </p:sp>
      <p:sp>
        <p:nvSpPr>
          <p:cNvPr id="4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3F1609E7-14C3-89BC-E596-EAC85ECD8664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2019925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E49003-D53D-6496-22AE-DC8B4B8BC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">
            <a:extLst>
              <a:ext uri="{FF2B5EF4-FFF2-40B4-BE49-F238E27FC236}">
                <a16:creationId xmlns:a16="http://schemas.microsoft.com/office/drawing/2014/main" id="{00EB89DF-9601-EAA2-8420-83F895A19BD1}"/>
              </a:ext>
            </a:extLst>
          </p:cNvPr>
          <p:cNvSpPr/>
          <p:nvPr/>
        </p:nvSpPr>
        <p:spPr>
          <a:xfrm>
            <a:off x="643889" y="1097280"/>
            <a:ext cx="11043285" cy="3383280"/>
          </a:xfrm>
          <a:prstGeom prst="roundRect">
            <a:avLst>
              <a:gd name="adj" fmla="val 3509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 anchor="ctr" anchorCtr="1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ACKNOWLEDGE FIRST, THEN ACT.</a:t>
            </a: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AF84BF20-8819-244C-E516-1D8ADF0DA594}"/>
              </a:ext>
            </a:extLst>
          </p:cNvPr>
          <p:cNvSpPr/>
          <p:nvPr/>
        </p:nvSpPr>
        <p:spPr>
          <a:xfrm>
            <a:off x="643889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1: Debrief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254815B1-D6C3-C1FB-A3DF-0CB72E8F3245}"/>
              </a:ext>
            </a:extLst>
          </p:cNvPr>
          <p:cNvSpPr/>
          <p:nvPr/>
        </p:nvSpPr>
        <p:spPr>
          <a:xfrm>
            <a:off x="1981200" y="3234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straight to a solution can feel efficient, but it often leaves the customer feeling unheard. A brief acknowledgment costs you seconds and buys you trust.</a:t>
            </a:r>
            <a:endParaRPr lang="en-US" sz="1500" dirty="0"/>
          </a:p>
        </p:txBody>
      </p:sp>
      <p:sp>
        <p:nvSpPr>
          <p:cNvPr id="26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E947F94B-6595-C13E-5529-9108165BE1C2}"/>
              </a:ext>
            </a:extLst>
          </p:cNvPr>
          <p:cNvSpPr/>
          <p:nvPr/>
        </p:nvSpPr>
        <p:spPr>
          <a:xfrm>
            <a:off x="643889" y="59436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here to continue</a:t>
            </a:r>
          </a:p>
        </p:txBody>
      </p:sp>
      <p:sp>
        <p:nvSpPr>
          <p:cNvPr id="30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540CB45E-9169-DB85-590D-983A8B697A22}"/>
              </a:ext>
            </a:extLst>
          </p:cNvPr>
          <p:cNvSpPr/>
          <p:nvPr/>
        </p:nvSpPr>
        <p:spPr>
          <a:xfrm>
            <a:off x="9492614" y="60121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269268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84C0B-0A03-DA30-019E-7E0D05043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17CC6F-F4A3-C518-B4AC-9C2D6EE0C078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Repeat Complainer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80892B-F4C4-F343-31E9-6C16F0A02BFA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D22B8900-85FD-EC44-7384-37FE16D6FD7C}"/>
              </a:ext>
            </a:extLst>
          </p:cNvPr>
          <p:cNvSpPr/>
          <p:nvPr/>
        </p:nvSpPr>
        <p:spPr>
          <a:xfrm>
            <a:off x="451945" y="1703841"/>
            <a:ext cx="5120640" cy="4075086"/>
          </a:xfrm>
          <a:prstGeom prst="roundRect">
            <a:avLst>
              <a:gd name="adj" fmla="val 2222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 sz="1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3FD57C15-E69D-4D0B-BCAA-C64048E247A6}"/>
              </a:ext>
            </a:extLst>
          </p:cNvPr>
          <p:cNvSpPr/>
          <p:nvPr/>
        </p:nvSpPr>
        <p:spPr>
          <a:xfrm>
            <a:off x="771985" y="1961981"/>
            <a:ext cx="1005840" cy="10058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49466283-4CE8-A8B1-541C-C8184E3F3BF1}"/>
              </a:ext>
            </a:extLst>
          </p:cNvPr>
          <p:cNvSpPr/>
          <p:nvPr/>
        </p:nvSpPr>
        <p:spPr>
          <a:xfrm>
            <a:off x="1960705" y="2099141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Priya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03DC4A08-E7C9-EC0B-1D27-4F0E88EE512E}"/>
              </a:ext>
            </a:extLst>
          </p:cNvPr>
          <p:cNvSpPr/>
          <p:nvPr/>
        </p:nvSpPr>
        <p:spPr>
          <a:xfrm>
            <a:off x="1960705" y="246490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A4531A8B-E0CF-34B9-C6A8-334DC2F73861}"/>
              </a:ext>
            </a:extLst>
          </p:cNvPr>
          <p:cNvSpPr/>
          <p:nvPr/>
        </p:nvSpPr>
        <p:spPr>
          <a:xfrm>
            <a:off x="771985" y="3242141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Priya’s third call about the same unresolved shipping issue.</a:t>
            </a: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F2304CC3-A0BE-FDF5-3AF4-2282144F9F6A}"/>
              </a:ext>
            </a:extLst>
          </p:cNvPr>
          <p:cNvSpPr/>
          <p:nvPr/>
        </p:nvSpPr>
        <p:spPr>
          <a:xfrm>
            <a:off x="771985" y="4339421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FFBBDB11-EF89-5BCF-EB34-60018C74EDE4}"/>
              </a:ext>
            </a:extLst>
          </p:cNvPr>
          <p:cNvSpPr/>
          <p:nvPr/>
        </p:nvSpPr>
        <p:spPr>
          <a:xfrm>
            <a:off x="1000585" y="4430861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“This is the THIRD time I’m calling about this. Nobody has fixed it. Why should I believe you’re any different?”</a:t>
            </a:r>
          </a:p>
        </p:txBody>
      </p:sp>
      <p:sp>
        <p:nvSpPr>
          <p:cNvPr id="59" name="Shape 15">
            <a:hlinkClick r:id="rId2" action="ppaction://hlinksldjump"/>
            <a:extLst>
              <a:ext uri="{FF2B5EF4-FFF2-40B4-BE49-F238E27FC236}">
                <a16:creationId xmlns:a16="http://schemas.microsoft.com/office/drawing/2014/main" id="{954E4EEA-8AA1-25E5-14F8-829756058FBE}"/>
              </a:ext>
            </a:extLst>
          </p:cNvPr>
          <p:cNvSpPr/>
          <p:nvPr/>
        </p:nvSpPr>
        <p:spPr>
          <a:xfrm>
            <a:off x="7988454" y="5852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</a:t>
            </a: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6B30410B-BC4B-3812-FB18-8D861B87FCE1}"/>
              </a:ext>
            </a:extLst>
          </p:cNvPr>
          <p:cNvSpPr/>
          <p:nvPr/>
        </p:nvSpPr>
        <p:spPr>
          <a:xfrm>
            <a:off x="6126480" y="1776293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Task</a:t>
            </a:r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63C615A0-E39A-0B7C-89FC-F7C81EA01850}"/>
              </a:ext>
            </a:extLst>
          </p:cNvPr>
          <p:cNvSpPr/>
          <p:nvPr/>
        </p:nvSpPr>
        <p:spPr>
          <a:xfrm>
            <a:off x="6126480" y="2506944"/>
            <a:ext cx="5613575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situation, then choose how you'd respond in the moment. There's no perfect script — only choices that build trust, and choices that break it.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9140483B-BC1C-DE4F-1D2C-CC49B6909B04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2</a:t>
            </a:r>
          </a:p>
        </p:txBody>
      </p:sp>
      <p:sp>
        <p:nvSpPr>
          <p:cNvPr id="4" name="Shape 13">
            <a:hlinkClick r:id="rId3" action="ppaction://hlinksldjump"/>
            <a:extLst>
              <a:ext uri="{FF2B5EF4-FFF2-40B4-BE49-F238E27FC236}">
                <a16:creationId xmlns:a16="http://schemas.microsoft.com/office/drawing/2014/main" id="{AEE38F88-6B58-AABE-3268-695758B502BA}"/>
              </a:ext>
            </a:extLst>
          </p:cNvPr>
          <p:cNvSpPr/>
          <p:nvPr/>
        </p:nvSpPr>
        <p:spPr>
          <a:xfrm>
            <a:off x="6126480" y="5852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3282493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1F426-AEE6-F4A1-83E1-B1B81B8F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763005-3B08-6C18-AD24-2326BF10FC19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respond first?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DC354B-B9EE-52FD-CB58-94EAE644A03F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5E4D94CD-8781-2070-AE35-7C4B2A53EA22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2: Click a response to see what happens next.</a:t>
            </a:r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F273FC90-F548-A63A-9787-10F7D2575BBF}"/>
              </a:ext>
            </a:extLst>
          </p:cNvPr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 anchor="ctr" anchorCtr="0"/>
          <a:lstStyle/>
          <a:p>
            <a:r>
              <a:rPr lang="en-US" sz="15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“This is the THIRD time I’m calling about this. Nobody has fixed it. Why should I believe you’re any different?”</a:t>
            </a:r>
          </a:p>
        </p:txBody>
      </p:sp>
      <p:sp>
        <p:nvSpPr>
          <p:cNvPr id="7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5549B1FC-0750-CFC4-E20F-1670B92B87D6}"/>
              </a:ext>
            </a:extLst>
          </p:cNvPr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/>
              </a:rPr>
              <a:t>“I don’t see any notes on your account — can you explain the issue again from the start?”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9">
            <a:hlinkClick r:id="rId3" action="ppaction://hlinksldjump"/>
            <a:extLst>
              <a:ext uri="{FF2B5EF4-FFF2-40B4-BE49-F238E27FC236}">
                <a16:creationId xmlns:a16="http://schemas.microsoft.com/office/drawing/2014/main" id="{1D1FCD1B-F7BE-F77D-0C38-0590214C2B24}"/>
              </a:ext>
            </a:extLst>
          </p:cNvPr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“I’m sorry about that. I’ll pass this along to the right team.”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13">
            <a:hlinkClick r:id="rId4" action="ppaction://hlinksldjump"/>
            <a:extLst>
              <a:ext uri="{FF2B5EF4-FFF2-40B4-BE49-F238E27FC236}">
                <a16:creationId xmlns:a16="http://schemas.microsoft.com/office/drawing/2014/main" id="{39095291-BB3D-B8B0-5AC1-02CA58BC238B}"/>
              </a:ext>
            </a:extLst>
          </p:cNvPr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“I can see this has been frustrating. I’ll personally follow up until it’s resolved. Let me pull up your account now.”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F54C263B-C537-6E97-0BC1-D8E3EEAE365B}"/>
              </a:ext>
            </a:extLst>
          </p:cNvPr>
          <p:cNvSpPr/>
          <p:nvPr/>
        </p:nvSpPr>
        <p:spPr>
          <a:xfrm>
            <a:off x="777240" y="313639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97" name="Shape 10">
            <a:extLst>
              <a:ext uri="{FF2B5EF4-FFF2-40B4-BE49-F238E27FC236}">
                <a16:creationId xmlns:a16="http://schemas.microsoft.com/office/drawing/2014/main" id="{BFAB4EF8-2D43-7630-1399-F41F9A8C86E8}"/>
              </a:ext>
            </a:extLst>
          </p:cNvPr>
          <p:cNvSpPr/>
          <p:nvPr/>
        </p:nvSpPr>
        <p:spPr>
          <a:xfrm>
            <a:off x="777240" y="437083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DCCAFEC0-FC93-D563-4084-85167F65F7A5}"/>
              </a:ext>
            </a:extLst>
          </p:cNvPr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164585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E2B11-5CC7-73E9-02B6-50B3D4F7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5052829-6684-7F06-768C-A066DFFC63CD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A – Not Quite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A3AA99-B243-BD8D-779C-C6D34DDB10D8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017E22CF-308E-6860-3D18-E9719E3A2A4A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2: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E79110B0-E77F-285E-4AB9-6580E22668D2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don’t see any notes on your account — can you explain the issue again from the start?”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AE5334C0-28B9-BF56-BC7C-77CB5905BA05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CB3B806-9C21-D7BF-8D6D-4ECBE5CA6020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Asking Priya to repeat her story a third time reinforces exactly what she's upset about: feeling ignored and passed around.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0BE52318-9811-6031-ADF2-C17C2487AD2F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again</a:t>
            </a:r>
          </a:p>
        </p:txBody>
      </p:sp>
      <p:sp>
        <p:nvSpPr>
          <p:cNvPr id="13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0C9E3DCE-03C9-D2ED-4924-AE17B4AC888E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2565367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2C797-7D47-1B30-4AB3-525C4A50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B2E3D1-7A51-94A4-640A-EB03C7366920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B – Room to Improve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9045E80-E8BB-7F27-2A25-27D1578EB1C7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8DC473E0-293A-6349-BE47-45DACB6D9CCF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2: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ADBCAF16-C3A1-E5EC-EF41-4C74A5A13A08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“I’m sorry about that. I’ll pass this along to the right team.”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7747A157-22FA-E97E-DE4D-2B0F20FC2BD6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CE26361-6425-CDF5-D3D6-76485FD317D7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polite, but vague. “I’ll pass it along” is the same promise that already failed twice — it won't rebuild trust on its own.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DED28944-901F-1CFA-D0F1-E2CB6755D9BE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again</a:t>
            </a:r>
          </a:p>
        </p:txBody>
      </p:sp>
      <p:sp>
        <p:nvSpPr>
          <p:cNvPr id="4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4BCAC60A-21B5-E8C7-628E-8525C9CE342A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179268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57D0F-09D9-9E42-AED8-7336A515D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F7B9E4C-CB7D-8196-E8BB-7CF3A0CFF054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C – Strong Response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3F2752-52FF-5A4F-7B97-6CB2FE38A921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02692C3A-3AA7-9D6B-8132-CD1ED48E0E69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2: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D990D637-A64C-2B86-3082-4D6E9FB26E36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can see this has been frustrating. I’ll personally follow up until it’s resolved. Let me pull up your account now.”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0ABFB56A-765A-0A84-F471-6A298E74B069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1759FD3-EAC0-7511-C3D7-789022B79488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took ownership and made a specific, personal commitment. That's what rebuilds trust after repeated failures.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05ED3926-0028-B30C-28A8-A06FC7BA56DA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</a:t>
            </a:r>
          </a:p>
        </p:txBody>
      </p:sp>
      <p:sp>
        <p:nvSpPr>
          <p:cNvPr id="4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34BFEDE4-9942-1DD0-F819-49F689AA4A98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7433929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B30EB-6EC8-8F43-9382-4145F8DFC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">
            <a:extLst>
              <a:ext uri="{FF2B5EF4-FFF2-40B4-BE49-F238E27FC236}">
                <a16:creationId xmlns:a16="http://schemas.microsoft.com/office/drawing/2014/main" id="{2C22E7C3-5136-3CB4-272E-093FA20F3696}"/>
              </a:ext>
            </a:extLst>
          </p:cNvPr>
          <p:cNvSpPr/>
          <p:nvPr/>
        </p:nvSpPr>
        <p:spPr>
          <a:xfrm>
            <a:off x="643889" y="1097280"/>
            <a:ext cx="11043285" cy="3383280"/>
          </a:xfrm>
          <a:prstGeom prst="roundRect">
            <a:avLst>
              <a:gd name="adj" fmla="val 3509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 anchor="ctr" anchorCtr="1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OWNERSHIP BEATS APOLOGY.</a:t>
            </a: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AA676DC4-6D30-2A11-4243-A1FE51F5103D}"/>
              </a:ext>
            </a:extLst>
          </p:cNvPr>
          <p:cNvSpPr/>
          <p:nvPr/>
        </p:nvSpPr>
        <p:spPr>
          <a:xfrm>
            <a:off x="643889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2: Debrief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EAF41177-B57F-2E9F-B94B-F5F98AB1DE02}"/>
              </a:ext>
            </a:extLst>
          </p:cNvPr>
          <p:cNvSpPr/>
          <p:nvPr/>
        </p:nvSpPr>
        <p:spPr>
          <a:xfrm>
            <a:off x="1981200" y="3234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customer has already been let down twice, a generic apology won't land. Specific commitments — and following through on them — are what rebuild trust.</a:t>
            </a:r>
          </a:p>
        </p:txBody>
      </p:sp>
      <p:sp>
        <p:nvSpPr>
          <p:cNvPr id="26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26803D08-D8A8-38AD-B2F9-C6E9285939A0}"/>
              </a:ext>
            </a:extLst>
          </p:cNvPr>
          <p:cNvSpPr/>
          <p:nvPr/>
        </p:nvSpPr>
        <p:spPr>
          <a:xfrm>
            <a:off x="643889" y="59436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here to continue</a:t>
            </a:r>
          </a:p>
        </p:txBody>
      </p:sp>
      <p:sp>
        <p:nvSpPr>
          <p:cNvPr id="30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21C55728-FD29-3271-A40A-3620EA0CDB45}"/>
              </a:ext>
            </a:extLst>
          </p:cNvPr>
          <p:cNvSpPr/>
          <p:nvPr/>
        </p:nvSpPr>
        <p:spPr>
          <a:xfrm>
            <a:off x="9492614" y="60121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4240800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C0EAD-B659-C49B-3CBC-86A0B21A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551706-186B-23EF-F704-F96F0CF220A2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Unreasonable Request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6F2829-A4E5-66F7-E6CE-5C9D9CA2273E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78620420-DF61-7A58-0E7D-212512B28A66}"/>
              </a:ext>
            </a:extLst>
          </p:cNvPr>
          <p:cNvSpPr/>
          <p:nvPr/>
        </p:nvSpPr>
        <p:spPr>
          <a:xfrm>
            <a:off x="451945" y="1703841"/>
            <a:ext cx="5120640" cy="4075086"/>
          </a:xfrm>
          <a:prstGeom prst="roundRect">
            <a:avLst>
              <a:gd name="adj" fmla="val 2222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 sz="1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66848EAA-E548-D715-4199-450D35AC7EAB}"/>
              </a:ext>
            </a:extLst>
          </p:cNvPr>
          <p:cNvSpPr/>
          <p:nvPr/>
        </p:nvSpPr>
        <p:spPr>
          <a:xfrm>
            <a:off x="771985" y="1961981"/>
            <a:ext cx="1005840" cy="10058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F3923320-77E1-C456-2F3E-4A7ED705CA55}"/>
              </a:ext>
            </a:extLst>
          </p:cNvPr>
          <p:cNvSpPr/>
          <p:nvPr/>
        </p:nvSpPr>
        <p:spPr>
          <a:xfrm>
            <a:off x="1960705" y="2099141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AFD289AD-D1BB-6E22-AA33-4BC8F617A324}"/>
              </a:ext>
            </a:extLst>
          </p:cNvPr>
          <p:cNvSpPr/>
          <p:nvPr/>
        </p:nvSpPr>
        <p:spPr>
          <a:xfrm>
            <a:off x="1960705" y="246490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F83D7080-8B87-A122-324A-B5EC9AC793D3}"/>
              </a:ext>
            </a:extLst>
          </p:cNvPr>
          <p:cNvSpPr/>
          <p:nvPr/>
        </p:nvSpPr>
        <p:spPr>
          <a:xfrm>
            <a:off x="771985" y="3242141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 wants a refund on a product returned 60 days past the deadline, and threatens a negative review.</a:t>
            </a: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2348C57D-C95B-23D2-C780-49D6AE74D4BE}"/>
              </a:ext>
            </a:extLst>
          </p:cNvPr>
          <p:cNvSpPr/>
          <p:nvPr/>
        </p:nvSpPr>
        <p:spPr>
          <a:xfrm>
            <a:off x="771985" y="4339421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ACAFDB2-C916-7A50-1B72-7949EDAF7F9E}"/>
              </a:ext>
            </a:extLst>
          </p:cNvPr>
          <p:cNvSpPr/>
          <p:nvPr/>
        </p:nvSpPr>
        <p:spPr>
          <a:xfrm>
            <a:off x="1000585" y="4430861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know it’s late, but I want my money back today — or I’m leaving a one-star review everywhere I can.”</a:t>
            </a:r>
          </a:p>
        </p:txBody>
      </p:sp>
      <p:sp>
        <p:nvSpPr>
          <p:cNvPr id="59" name="Shape 15">
            <a:hlinkClick r:id="rId2" action="ppaction://hlinksldjump"/>
            <a:extLst>
              <a:ext uri="{FF2B5EF4-FFF2-40B4-BE49-F238E27FC236}">
                <a16:creationId xmlns:a16="http://schemas.microsoft.com/office/drawing/2014/main" id="{CB28A3C8-5372-17D1-F0AF-3932F9912262}"/>
              </a:ext>
            </a:extLst>
          </p:cNvPr>
          <p:cNvSpPr/>
          <p:nvPr/>
        </p:nvSpPr>
        <p:spPr>
          <a:xfrm>
            <a:off x="7988454" y="5852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</a:t>
            </a: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1A146A85-1F65-BC8D-D6C0-2384D7A52BBA}"/>
              </a:ext>
            </a:extLst>
          </p:cNvPr>
          <p:cNvSpPr/>
          <p:nvPr/>
        </p:nvSpPr>
        <p:spPr>
          <a:xfrm>
            <a:off x="6126480" y="1776293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Task</a:t>
            </a:r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682F32B4-2A90-AE73-0648-5505E658D1E7}"/>
              </a:ext>
            </a:extLst>
          </p:cNvPr>
          <p:cNvSpPr/>
          <p:nvPr/>
        </p:nvSpPr>
        <p:spPr>
          <a:xfrm>
            <a:off x="6126480" y="2506944"/>
            <a:ext cx="5613575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situation, then choose how you'd respond in the moment. There's no perfect script — only choices that build trust, and choices that break it.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EDAF2A82-94AF-6394-5992-6485FF8FBFCC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3</a:t>
            </a:r>
          </a:p>
        </p:txBody>
      </p:sp>
      <p:sp>
        <p:nvSpPr>
          <p:cNvPr id="4" name="Shape 13">
            <a:hlinkClick r:id="rId3" action="ppaction://hlinksldjump"/>
            <a:extLst>
              <a:ext uri="{FF2B5EF4-FFF2-40B4-BE49-F238E27FC236}">
                <a16:creationId xmlns:a16="http://schemas.microsoft.com/office/drawing/2014/main" id="{EC5E137D-2923-9F13-1EBD-ADF302D8943F}"/>
              </a:ext>
            </a:extLst>
          </p:cNvPr>
          <p:cNvSpPr/>
          <p:nvPr/>
        </p:nvSpPr>
        <p:spPr>
          <a:xfrm>
            <a:off x="6126480" y="5852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648618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1024C-272B-DE58-02CB-2ECAD69A1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1A991D-6338-957A-8D9E-C419BF8B245D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do you respond first?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A6FF59-6D7E-552A-6E9C-F5B86D0E2650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72BEB9EC-CC4F-3264-0452-3EE2A67CE376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3: Click a response to see what happens next.</a:t>
            </a:r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C3114BA9-88E6-835C-7894-05773077BF8A}"/>
              </a:ext>
            </a:extLst>
          </p:cNvPr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 anchor="ctr" anchorCtr="0"/>
          <a:lstStyle/>
          <a:p>
            <a:r>
              <a:rPr lang="en-US" sz="15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know it’s late, but I want my money back today — or I’m leaving a one-star review everywhere I can.”</a:t>
            </a:r>
          </a:p>
        </p:txBody>
      </p:sp>
      <p:sp>
        <p:nvSpPr>
          <p:cNvPr id="7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722466E6-4593-9C40-5C35-6C2D2A0D1481}"/>
              </a:ext>
            </a:extLst>
          </p:cNvPr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/>
              </a:rPr>
              <a:t>“Okay, I’ll go ahead and process that refund for you.”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9">
            <a:hlinkClick r:id="rId3" action="ppaction://hlinksldjump"/>
            <a:extLst>
              <a:ext uri="{FF2B5EF4-FFF2-40B4-BE49-F238E27FC236}">
                <a16:creationId xmlns:a16="http://schemas.microsoft.com/office/drawing/2014/main" id="{F2C283AA-5D11-FDA3-C345-4C8D510238F1}"/>
              </a:ext>
            </a:extLst>
          </p:cNvPr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“I’m sorry, that’s against policy. There’s nothing I can do.”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13">
            <a:hlinkClick r:id="rId4" action="ppaction://hlinksldjump"/>
            <a:extLst>
              <a:ext uri="{FF2B5EF4-FFF2-40B4-BE49-F238E27FC236}">
                <a16:creationId xmlns:a16="http://schemas.microsoft.com/office/drawing/2014/main" id="{6D6D56C0-90C2-813B-C188-3B45B071CEF4}"/>
              </a:ext>
            </a:extLst>
          </p:cNvPr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“I understand that it feels unfair. I can’t refund past the window, but I can offer store credit. Let’s find something that works.”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93B21177-3427-B44F-B304-95FE0EF3E3FA}"/>
              </a:ext>
            </a:extLst>
          </p:cNvPr>
          <p:cNvSpPr/>
          <p:nvPr/>
        </p:nvSpPr>
        <p:spPr>
          <a:xfrm>
            <a:off x="777240" y="313639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97" name="Shape 10">
            <a:extLst>
              <a:ext uri="{FF2B5EF4-FFF2-40B4-BE49-F238E27FC236}">
                <a16:creationId xmlns:a16="http://schemas.microsoft.com/office/drawing/2014/main" id="{01A7CBD9-3BE0-387D-9DB5-0526EE81EAC5}"/>
              </a:ext>
            </a:extLst>
          </p:cNvPr>
          <p:cNvSpPr/>
          <p:nvPr/>
        </p:nvSpPr>
        <p:spPr>
          <a:xfrm>
            <a:off x="777240" y="437083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AB9F80E6-1C5B-6872-BC18-35E6D54604C0}"/>
              </a:ext>
            </a:extLst>
          </p:cNvPr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14848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97667-9B6C-9DE7-A4EE-6BEBD1941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F7503D-2217-E037-5D01-E22C64AF799D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A – Not Quite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498F81-DF4D-315F-85A7-8161E77F8F54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574F4DB2-B1A5-6216-18DF-B6BE419D4E61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3: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068B82DF-001A-D364-C1A5-894D4B57F689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“Okay, I’ll go ahead and process that refund for you.”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952F8780-42DA-44F3-2083-8058AE705106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6105F9A-6A94-65B6-44E4-9B553B7286FD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Giving in to a threat feels like the fastest way to end the conflict, but it isn't sustainable — and it doesn't actually build genuine trust.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698FDBC0-64B2-E468-913D-23FDCF10DBB1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again</a:t>
            </a:r>
          </a:p>
        </p:txBody>
      </p:sp>
      <p:sp>
        <p:nvSpPr>
          <p:cNvPr id="13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341D4FD3-6CB5-A368-7CFB-9040720EB4CF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11983147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BAFCA-0455-A402-F0A2-E262892F5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B071BEB-8229-B948-138F-17B1C83ABDFC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B – Room to Improve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6084F8-3555-50CA-569E-DC7C701B05EF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CA5FEBA1-A20B-E27F-E1BB-A056BEA50A35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3: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72754380-2D55-76B4-8D22-BDD9F096AD0F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“I’m sorry, that’s against policy. There’s nothing I can do.”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FAB194B2-7350-E158-59F5-BACECE2E2143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D06D241-B073-7422-0B26-AA8A09A2C310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flat refusal without explanation or alternative feels dismissive. It's honest, but it raises — not lowers — the odds of that negative review.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9605CCE9-2FE2-9548-0A22-9AACB3701AFF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again</a:t>
            </a:r>
          </a:p>
        </p:txBody>
      </p:sp>
      <p:sp>
        <p:nvSpPr>
          <p:cNvPr id="4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3C618B7D-0AFE-680D-B405-06D8ECDEF9C3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951758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B4A54-7371-AB3C-1E12-6903FA22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355C8FB-D0BE-2E43-8883-C19FA3BD41C5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C – Strong Response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43DC2C-7F62-883E-E230-B93ED9EA49D9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91CA1EF6-D8D9-5604-FCE2-44D83BEB77BB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3: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5915A77D-974B-355B-504A-70BEC6BCC1F7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 understand that it feels unfair. I can’t refund past the window, but I can offer store credit. Let’s find something that works.”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66FFA314-DEA1-23B3-AA12-566B5A959360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15DC4C9-BCEA-0AE0-C30E-4BAA917B0EAA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held the boundary and offered a real alternative. De-escalation isn't about giving in — it's about staying firm while still moving toward a solution.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6E48F245-3739-F0A5-7E03-9EDF8EE2B432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</a:t>
            </a:r>
          </a:p>
        </p:txBody>
      </p:sp>
      <p:sp>
        <p:nvSpPr>
          <p:cNvPr id="4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C5D52FED-D0DA-365D-C669-47FB0436B0AD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6425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410002-3466-4ADF-FB41-C2E164F11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">
            <a:extLst>
              <a:ext uri="{FF2B5EF4-FFF2-40B4-BE49-F238E27FC236}">
                <a16:creationId xmlns:a16="http://schemas.microsoft.com/office/drawing/2014/main" id="{9213FFCA-01E2-E8F5-0F90-0D9404B744A0}"/>
              </a:ext>
            </a:extLst>
          </p:cNvPr>
          <p:cNvSpPr/>
          <p:nvPr/>
        </p:nvSpPr>
        <p:spPr>
          <a:xfrm>
            <a:off x="643889" y="1097280"/>
            <a:ext cx="11043285" cy="3383280"/>
          </a:xfrm>
          <a:prstGeom prst="roundRect">
            <a:avLst>
              <a:gd name="adj" fmla="val 3509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 anchor="ctr" anchorCtr="1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HOLD THE BOUNDARY, OFFER A PATH.</a:t>
            </a: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9982EA0A-72AC-0828-49F4-0739C7C81BC3}"/>
              </a:ext>
            </a:extLst>
          </p:cNvPr>
          <p:cNvSpPr/>
          <p:nvPr/>
        </p:nvSpPr>
        <p:spPr>
          <a:xfrm>
            <a:off x="643889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3: Debrief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D1295DFC-84D9-56DC-0705-88F4656C82EE}"/>
              </a:ext>
            </a:extLst>
          </p:cNvPr>
          <p:cNvSpPr/>
          <p:nvPr/>
        </p:nvSpPr>
        <p:spPr>
          <a:xfrm>
            <a:off x="1981200" y="3234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say yes to de-escalate. Explaining the “why” and offering an alternative respects both the policy and the relationship.</a:t>
            </a:r>
          </a:p>
        </p:txBody>
      </p:sp>
      <p:sp>
        <p:nvSpPr>
          <p:cNvPr id="26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3ADDED79-67A3-03CC-A793-2E753E1DB721}"/>
              </a:ext>
            </a:extLst>
          </p:cNvPr>
          <p:cNvSpPr/>
          <p:nvPr/>
        </p:nvSpPr>
        <p:spPr>
          <a:xfrm>
            <a:off x="643889" y="59436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Click here to continue</a:t>
            </a:r>
          </a:p>
        </p:txBody>
      </p:sp>
      <p:sp>
        <p:nvSpPr>
          <p:cNvPr id="30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BDDE8EBB-B669-978C-503B-B735A420F2DE}"/>
              </a:ext>
            </a:extLst>
          </p:cNvPr>
          <p:cNvSpPr/>
          <p:nvPr/>
        </p:nvSpPr>
        <p:spPr>
          <a:xfrm>
            <a:off x="9492614" y="60121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18964320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45375-9748-A9FF-3C4A-1A99A074F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E1F5F48-C9DE-6275-3535-3111FB8C1864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Put It All Together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A47A4-F19C-82D1-DA15-86FB9539076D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E7839D32-4064-BD37-218E-39366315EEE5}"/>
              </a:ext>
            </a:extLst>
          </p:cNvPr>
          <p:cNvSpPr/>
          <p:nvPr/>
        </p:nvSpPr>
        <p:spPr>
          <a:xfrm>
            <a:off x="451945" y="1703841"/>
            <a:ext cx="5120640" cy="4075086"/>
          </a:xfrm>
          <a:prstGeom prst="roundRect">
            <a:avLst>
              <a:gd name="adj" fmla="val 2222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 sz="15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58549232-5367-B9B9-3459-6DC610115683}"/>
              </a:ext>
            </a:extLst>
          </p:cNvPr>
          <p:cNvSpPr/>
          <p:nvPr/>
        </p:nvSpPr>
        <p:spPr>
          <a:xfrm>
            <a:off x="771985" y="1961981"/>
            <a:ext cx="1005840" cy="10058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1382E371-2A16-698A-D9D3-362C6DE06E3D}"/>
              </a:ext>
            </a:extLst>
          </p:cNvPr>
          <p:cNvSpPr/>
          <p:nvPr/>
        </p:nvSpPr>
        <p:spPr>
          <a:xfrm>
            <a:off x="1960705" y="2099141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Alex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2A41C7D1-8541-DA6B-7D9D-B965A26203C0}"/>
              </a:ext>
            </a:extLst>
          </p:cNvPr>
          <p:cNvSpPr/>
          <p:nvPr/>
        </p:nvSpPr>
        <p:spPr>
          <a:xfrm>
            <a:off x="1960705" y="246490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176C98CD-C016-14D9-70F4-1BE014E7EA90}"/>
              </a:ext>
            </a:extLst>
          </p:cNvPr>
          <p:cNvSpPr/>
          <p:nvPr/>
        </p:nvSpPr>
        <p:spPr>
          <a:xfrm>
            <a:off x="771985" y="3242141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Alex is messaging in live chat, clearly frustrated, in short clipped sentences.</a:t>
            </a:r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89A5390D-39B4-2EEE-171D-9E9BA8E601B7}"/>
              </a:ext>
            </a:extLst>
          </p:cNvPr>
          <p:cNvSpPr/>
          <p:nvPr/>
        </p:nvSpPr>
        <p:spPr>
          <a:xfrm>
            <a:off x="771985" y="4339421"/>
            <a:ext cx="44805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DE29A58-F9B3-18CC-A097-11F1A7AFE5C2}"/>
              </a:ext>
            </a:extLst>
          </p:cNvPr>
          <p:cNvSpPr/>
          <p:nvPr/>
        </p:nvSpPr>
        <p:spPr>
          <a:xfrm>
            <a:off x="1000585" y="4430861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“This is a joke. Fix it or I’m done.”</a:t>
            </a:r>
          </a:p>
        </p:txBody>
      </p:sp>
      <p:sp>
        <p:nvSpPr>
          <p:cNvPr id="56" name="Shape 13">
            <a:hlinkClick r:id="rId2" action="ppaction://hlinksldjump"/>
            <a:extLst>
              <a:ext uri="{FF2B5EF4-FFF2-40B4-BE49-F238E27FC236}">
                <a16:creationId xmlns:a16="http://schemas.microsoft.com/office/drawing/2014/main" id="{34DD86BB-0213-14F5-9324-B6FEA7232C75}"/>
              </a:ext>
            </a:extLst>
          </p:cNvPr>
          <p:cNvSpPr/>
          <p:nvPr/>
        </p:nvSpPr>
        <p:spPr>
          <a:xfrm>
            <a:off x="6126480" y="5852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  <p:sp>
        <p:nvSpPr>
          <p:cNvPr id="59" name="Shape 15">
            <a:hlinkClick r:id="rId3" action="ppaction://hlinksldjump"/>
            <a:extLst>
              <a:ext uri="{FF2B5EF4-FFF2-40B4-BE49-F238E27FC236}">
                <a16:creationId xmlns:a16="http://schemas.microsoft.com/office/drawing/2014/main" id="{EF8216DD-B2B0-1D68-9A61-17CF1F61F034}"/>
              </a:ext>
            </a:extLst>
          </p:cNvPr>
          <p:cNvSpPr/>
          <p:nvPr/>
        </p:nvSpPr>
        <p:spPr>
          <a:xfrm>
            <a:off x="7988454" y="5852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Begin</a:t>
            </a: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7CF20B4F-41EE-8827-57C7-046EE304183C}"/>
              </a:ext>
            </a:extLst>
          </p:cNvPr>
          <p:cNvSpPr/>
          <p:nvPr/>
        </p:nvSpPr>
        <p:spPr>
          <a:xfrm>
            <a:off x="6126480" y="1776293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Your Task</a:t>
            </a:r>
          </a:p>
        </p:txBody>
      </p:sp>
      <p:sp>
        <p:nvSpPr>
          <p:cNvPr id="65" name="Shape 9">
            <a:extLst>
              <a:ext uri="{FF2B5EF4-FFF2-40B4-BE49-F238E27FC236}">
                <a16:creationId xmlns:a16="http://schemas.microsoft.com/office/drawing/2014/main" id="{75A77F4D-56AA-0420-73A1-20DE2D8A759B}"/>
              </a:ext>
            </a:extLst>
          </p:cNvPr>
          <p:cNvSpPr/>
          <p:nvPr/>
        </p:nvSpPr>
        <p:spPr>
          <a:xfrm>
            <a:off x="6126480" y="2506944"/>
            <a:ext cx="5613575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the situation, then choose how you'd respond in the moment. There's no perfect script — only choices that build trust, and choices that break it.</a:t>
            </a: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EC0EB5E5-059B-3639-49B6-5EB551FEAA5E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Challenge</a:t>
            </a:r>
          </a:p>
        </p:txBody>
      </p:sp>
    </p:spTree>
    <p:extLst>
      <p:ext uri="{BB962C8B-B14F-4D97-AF65-F5344CB8AC3E}">
        <p14:creationId xmlns:p14="http://schemas.microsoft.com/office/powerpoint/2010/main" val="19435921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963A5-B3EA-08FF-3E92-921CF991D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AFD5AB-A098-E890-939C-8CA9E6361059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have one message to turn this around. What do you send?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9D4BEA6-6575-A86C-EE89-9E7DF452B7A2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640E92AF-42EC-5C80-BA17-96EDB0FB74C8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Challenge: Click a response to see what happens next.</a:t>
            </a:r>
          </a:p>
        </p:txBody>
      </p:sp>
      <p:sp>
        <p:nvSpPr>
          <p:cNvPr id="69" name="Shape 3">
            <a:extLst>
              <a:ext uri="{FF2B5EF4-FFF2-40B4-BE49-F238E27FC236}">
                <a16:creationId xmlns:a16="http://schemas.microsoft.com/office/drawing/2014/main" id="{136A210F-0355-7895-44C1-B89B0C0570B9}"/>
              </a:ext>
            </a:extLst>
          </p:cNvPr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 anchor="ctr" anchorCtr="0"/>
          <a:lstStyle/>
          <a:p>
            <a:r>
              <a:rPr lang="en-US" sz="15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“This is a joke. Fix it or I’m done.”</a:t>
            </a:r>
          </a:p>
        </p:txBody>
      </p:sp>
      <p:sp>
        <p:nvSpPr>
          <p:cNvPr id="7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BBA11E03-449B-70DC-3D77-AF748DDB14CD}"/>
              </a:ext>
            </a:extLst>
          </p:cNvPr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 action="ppaction://hlinksldjump"/>
              </a:rPr>
              <a:t>“Can you tell me more about the issue you’re having?”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Shape 9">
            <a:hlinkClick r:id="rId3" action="ppaction://hlinksldjump"/>
            <a:extLst>
              <a:ext uri="{FF2B5EF4-FFF2-40B4-BE49-F238E27FC236}">
                <a16:creationId xmlns:a16="http://schemas.microsoft.com/office/drawing/2014/main" id="{FA0D0AA9-261E-94CC-6CE6-E515DAB67581}"/>
              </a:ext>
            </a:extLst>
          </p:cNvPr>
          <p:cNvSpPr/>
          <p:nvPr/>
        </p:nvSpPr>
        <p:spPr>
          <a:xfrm>
            <a:off x="548640" y="41148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“Sorry for the trouble! I’ll look into it.”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Shape 13">
            <a:hlinkClick r:id="rId4" action="ppaction://hlinksldjump"/>
            <a:extLst>
              <a:ext uri="{FF2B5EF4-FFF2-40B4-BE49-F238E27FC236}">
                <a16:creationId xmlns:a16="http://schemas.microsoft.com/office/drawing/2014/main" id="{9605DEEE-4A75-E34D-4D23-B54C64BAFC4C}"/>
              </a:ext>
            </a:extLst>
          </p:cNvPr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lIns="1005840" anchor="ctr" anchorCtr="0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“That sounds really frustrating, and I want to make this right. I’m looking into your account right now and won’t leave this chat until we have an answer.”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Shape 6">
            <a:extLst>
              <a:ext uri="{FF2B5EF4-FFF2-40B4-BE49-F238E27FC236}">
                <a16:creationId xmlns:a16="http://schemas.microsoft.com/office/drawing/2014/main" id="{3B6705F6-902F-3ADD-DA57-9745E013E834}"/>
              </a:ext>
            </a:extLst>
          </p:cNvPr>
          <p:cNvSpPr/>
          <p:nvPr/>
        </p:nvSpPr>
        <p:spPr>
          <a:xfrm>
            <a:off x="777240" y="313639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97" name="Shape 10">
            <a:extLst>
              <a:ext uri="{FF2B5EF4-FFF2-40B4-BE49-F238E27FC236}">
                <a16:creationId xmlns:a16="http://schemas.microsoft.com/office/drawing/2014/main" id="{0F7CA20E-3A3F-3842-6645-E9FE8F35E103}"/>
              </a:ext>
            </a:extLst>
          </p:cNvPr>
          <p:cNvSpPr/>
          <p:nvPr/>
        </p:nvSpPr>
        <p:spPr>
          <a:xfrm>
            <a:off x="777240" y="437083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BBD8D1C8-E0A7-CF4C-57E5-BA4B65BD6F00}"/>
              </a:ext>
            </a:extLst>
          </p:cNvPr>
          <p:cNvSpPr/>
          <p:nvPr/>
        </p:nvSpPr>
        <p:spPr>
          <a:xfrm>
            <a:off x="777240" y="5605272"/>
            <a:ext cx="548640" cy="548640"/>
          </a:xfrm>
          <a:prstGeom prst="ellipse">
            <a:avLst/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</p:spPr>
        <p:txBody>
          <a:bodyPr anchor="ctr" anchorCtr="1"/>
          <a:lstStyle/>
          <a:p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84953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5592C-1773-BC2D-68AA-A2E146312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19D6D8C-FEF6-5A55-FBE5-AD0258097284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A – Not Quite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77FBA1-E348-D7C7-02B4-6F76C9298E3A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A5B2287D-4B4F-9F1B-EFAA-54AD169CB29A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Challenge: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8486FBD2-0B5C-CE24-8DCE-68A06973404D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“Can you tell me more about the issue you’re having?”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C77BC2A7-3857-E503-01E5-39F17C84D5E9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8E4A2C1-54A4-B54B-DEA9-8C111B299142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wrong, but it ignores Alex's frustration entirely. Jumping straight into fact-finding without any acknowledgment can feel cold, especially in text.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7F36FBC3-CE78-7101-8133-5115E852A40B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again</a:t>
            </a:r>
          </a:p>
        </p:txBody>
      </p:sp>
      <p:sp>
        <p:nvSpPr>
          <p:cNvPr id="13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CB5EBB33-0BE7-A956-B269-34B9AFB07C20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30230446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E68ED-2518-3CAE-C1C4-BEADA9EE8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B61C981-1238-4725-F5B5-A36349DCD2E4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B – Room to Improve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4D9685-2A58-5EF6-45FA-BEB4BBF518D2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F2F2C8AF-463B-E3A7-984F-0F9E530A22B8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Challenge: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4F4CDE44-A270-C62F-5628-2A3A0A96650C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“Sorry for the trouble! I’ll look into it.”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5CB23433-19A3-167A-C9B6-194781C62ED4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06FF605-954B-3E27-6287-BF54E3F3BCFB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Friendly, but generic — it doesn't show you've registered how frustrated Alex is, and “I'll look into it” makes no real commitment.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A49DC790-9595-2799-E12C-6D2CA4845088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Try again</a:t>
            </a:r>
          </a:p>
        </p:txBody>
      </p:sp>
      <p:sp>
        <p:nvSpPr>
          <p:cNvPr id="4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B0F689E8-2FD1-DD4D-FCE5-1920731BF315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3941204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4EA09-42AF-FA8C-A037-00D48811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716A5A4-B3DA-5523-1FAE-E2D7AD5ADE9D}"/>
              </a:ext>
            </a:extLst>
          </p:cNvPr>
          <p:cNvSpPr/>
          <p:nvPr/>
        </p:nvSpPr>
        <p:spPr>
          <a:xfrm>
            <a:off x="0" y="0"/>
            <a:ext cx="12192000" cy="962526"/>
          </a:xfrm>
          <a:prstGeom prst="rect">
            <a:avLst/>
          </a:prstGeom>
          <a:solidFill>
            <a:srgbClr val="013A40"/>
          </a:solidFill>
          <a:ln w="12700">
            <a:noFill/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Option C – Strong Response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A36B12-2A0F-DF7D-9DD0-981FF64373F0}"/>
              </a:ext>
            </a:extLst>
          </p:cNvPr>
          <p:cNvSpPr/>
          <p:nvPr/>
        </p:nvSpPr>
        <p:spPr>
          <a:xfrm>
            <a:off x="0" y="962526"/>
            <a:ext cx="12192000" cy="133851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/>
          <a:lstStyle/>
          <a:p>
            <a:endParaRPr 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56145F13-1170-68CB-D7EF-AA8654E8E747}"/>
              </a:ext>
            </a:extLst>
          </p:cNvPr>
          <p:cNvSpPr/>
          <p:nvPr/>
        </p:nvSpPr>
        <p:spPr>
          <a:xfrm>
            <a:off x="185770" y="1140559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Challenge: You said:</a:t>
            </a:r>
          </a:p>
        </p:txBody>
      </p:sp>
      <p:sp>
        <p:nvSpPr>
          <p:cNvPr id="3" name="Shape 5">
            <a:extLst>
              <a:ext uri="{FF2B5EF4-FFF2-40B4-BE49-F238E27FC236}">
                <a16:creationId xmlns:a16="http://schemas.microsoft.com/office/drawing/2014/main" id="{27523158-AE10-C323-1C99-16883AAFE379}"/>
              </a:ext>
            </a:extLst>
          </p:cNvPr>
          <p:cNvSpPr/>
          <p:nvPr/>
        </p:nvSpPr>
        <p:spPr>
          <a:xfrm>
            <a:off x="563880" y="1597759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  <a:effectLst>
            <a:outerShdw blurRad="50800" dist="12700" dir="5400000" algn="bl" rotWithShape="0">
              <a:srgbClr val="1B2B2C">
                <a:alpha val="10000"/>
              </a:srgbClr>
            </a:outerShdw>
          </a:effectLst>
        </p:spPr>
        <p:txBody>
          <a:bodyPr anchor="ctr" anchorCtr="1"/>
          <a:lstStyle/>
          <a:p>
            <a:pPr algn="ctr"/>
            <a:r>
              <a:rPr lang="en-US" sz="1500" dirty="0">
                <a:solidFill>
                  <a:srgbClr val="1B2B2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“That sounds really frustrating, and I want to make this right. I’m looking into your account right now and won’t leave this chat until we have an answer.”</a:t>
            </a:r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52C2BE0A-E35D-A8F3-743E-221EA4152ED2}"/>
              </a:ext>
            </a:extLst>
          </p:cNvPr>
          <p:cNvSpPr/>
          <p:nvPr/>
        </p:nvSpPr>
        <p:spPr>
          <a:xfrm>
            <a:off x="563880" y="2971800"/>
            <a:ext cx="11064240" cy="304800"/>
          </a:xfrm>
          <a:prstGeom prst="roundRect">
            <a:avLst>
              <a:gd name="adj" fmla="val 16000"/>
            </a:avLst>
          </a:prstGeom>
          <a:solidFill>
            <a:srgbClr val="156082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5400000" algn="bl" rotWithShape="0">
              <a:srgbClr val="1B2B2C">
                <a:alpha val="18000"/>
              </a:srgbClr>
            </a:outerShdw>
          </a:effectLst>
        </p:spPr>
        <p:txBody>
          <a:bodyPr anchor="ctr" anchorCtr="1"/>
          <a:lstStyle/>
          <a:p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4261011-2F2A-2BDE-D91D-CED43C19F7DC}"/>
              </a:ext>
            </a:extLst>
          </p:cNvPr>
          <p:cNvSpPr/>
          <p:nvPr/>
        </p:nvSpPr>
        <p:spPr>
          <a:xfrm>
            <a:off x="563880" y="3599081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02C39A"/>
          </a:solidFill>
          <a:ln w="12700">
            <a:solidFill>
              <a:srgbClr val="D9E9E8"/>
            </a:solidFill>
            <a:prstDash val="solid"/>
          </a:ln>
        </p:spPr>
        <p:txBody>
          <a:bodyPr anchor="ctr" anchorCtr="1"/>
          <a:lstStyle/>
          <a:p>
            <a:pPr algn="ctr">
              <a:lnSpc>
                <a:spcPct val="125000"/>
              </a:lnSpc>
            </a:pPr>
            <a:r>
              <a:rPr lang="en-US" sz="15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combined acknowledgment, ownership, and a concrete commitment — the full C.A.L.M. approach, in one message.</a:t>
            </a:r>
          </a:p>
        </p:txBody>
      </p:sp>
      <p:sp>
        <p:nvSpPr>
          <p:cNvPr id="11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DB4D45A4-64E8-5D82-5452-A571D3CE5F65}"/>
              </a:ext>
            </a:extLst>
          </p:cNvPr>
          <p:cNvSpPr/>
          <p:nvPr/>
        </p:nvSpPr>
        <p:spPr>
          <a:xfrm>
            <a:off x="56388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Continue</a:t>
            </a:r>
          </a:p>
        </p:txBody>
      </p:sp>
      <p:sp>
        <p:nvSpPr>
          <p:cNvPr id="4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615A70F3-E6FC-2850-4591-E28B428786DA}"/>
              </a:ext>
            </a:extLst>
          </p:cNvPr>
          <p:cNvSpPr/>
          <p:nvPr/>
        </p:nvSpPr>
        <p:spPr>
          <a:xfrm>
            <a:off x="9433560" y="5983993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1012902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D3C1FE-F20C-A86E-DE73-981113351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4">
            <a:extLst>
              <a:ext uri="{FF2B5EF4-FFF2-40B4-BE49-F238E27FC236}">
                <a16:creationId xmlns:a16="http://schemas.microsoft.com/office/drawing/2014/main" id="{1EF95A2A-304B-F9B9-5802-EB62D61F8F8F}"/>
              </a:ext>
            </a:extLst>
          </p:cNvPr>
          <p:cNvSpPr/>
          <p:nvPr/>
        </p:nvSpPr>
        <p:spPr>
          <a:xfrm>
            <a:off x="643889" y="1097280"/>
            <a:ext cx="11043285" cy="3383280"/>
          </a:xfrm>
          <a:prstGeom prst="roundRect">
            <a:avLst>
              <a:gd name="adj" fmla="val 3509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 anchor="ctr" anchorCtr="1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YOU'VE GOT THIS.</a:t>
            </a:r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23BB03BA-6258-40B3-017D-40BEE43A0C74}"/>
              </a:ext>
            </a:extLst>
          </p:cNvPr>
          <p:cNvSpPr/>
          <p:nvPr/>
        </p:nvSpPr>
        <p:spPr>
          <a:xfrm>
            <a:off x="643889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Challenge: Debrief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492810D1-12FD-C7E1-C16F-D46C14CB335D}"/>
              </a:ext>
            </a:extLst>
          </p:cNvPr>
          <p:cNvSpPr/>
          <p:nvPr/>
        </p:nvSpPr>
        <p:spPr>
          <a:xfrm>
            <a:off x="1981200" y="323469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 dirty="0">
                <a:solidFill>
                  <a:srgbClr val="E4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yourself, Acknowledge the feeling, Listen fully, and Move toward a solution together. Every difficult conversation gets easier in that order.</a:t>
            </a:r>
          </a:p>
        </p:txBody>
      </p:sp>
      <p:sp>
        <p:nvSpPr>
          <p:cNvPr id="26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F0B5BE7E-A7FE-5219-8A99-80E81EBE1599}"/>
              </a:ext>
            </a:extLst>
          </p:cNvPr>
          <p:cNvSpPr/>
          <p:nvPr/>
        </p:nvSpPr>
        <p:spPr>
          <a:xfrm>
            <a:off x="643889" y="5943600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your Result</a:t>
            </a:r>
          </a:p>
        </p:txBody>
      </p:sp>
      <p:sp>
        <p:nvSpPr>
          <p:cNvPr id="30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18C3A9BD-D4B7-3448-997D-C171A0D8DEB9}"/>
              </a:ext>
            </a:extLst>
          </p:cNvPr>
          <p:cNvSpPr/>
          <p:nvPr/>
        </p:nvSpPr>
        <p:spPr>
          <a:xfrm>
            <a:off x="9492614" y="601218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 anchor="ctr" anchorCtr="1"/>
          <a:lstStyle/>
          <a:p>
            <a:r>
              <a:rPr 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Menu</a:t>
            </a:r>
          </a:p>
        </p:txBody>
      </p:sp>
    </p:spTree>
    <p:extLst>
      <p:ext uri="{BB962C8B-B14F-4D97-AF65-F5344CB8AC3E}">
        <p14:creationId xmlns:p14="http://schemas.microsoft.com/office/powerpoint/2010/main" val="68086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7FAB4A-CAAF-8B39-7AC0-E794AFAB6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2">
            <a:extLst>
              <a:ext uri="{FF2B5EF4-FFF2-40B4-BE49-F238E27FC236}">
                <a16:creationId xmlns:a16="http://schemas.microsoft.com/office/drawing/2014/main" id="{70F5302A-5220-DA33-6B80-71CFA0F7B13F}"/>
              </a:ext>
            </a:extLst>
          </p:cNvPr>
          <p:cNvSpPr/>
          <p:nvPr/>
        </p:nvSpPr>
        <p:spPr>
          <a:xfrm>
            <a:off x="5305425" y="308610"/>
            <a:ext cx="1581150" cy="1661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E7DF4978-F90F-7608-DDB9-29BEB834DC14}"/>
              </a:ext>
            </a:extLst>
          </p:cNvPr>
          <p:cNvSpPr/>
          <p:nvPr/>
        </p:nvSpPr>
        <p:spPr>
          <a:xfrm>
            <a:off x="4122420" y="1779270"/>
            <a:ext cx="394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Complete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0BE71A68-9BE8-8FFE-123C-BE59F55859D6}"/>
              </a:ext>
            </a:extLst>
          </p:cNvPr>
          <p:cNvSpPr/>
          <p:nvPr/>
        </p:nvSpPr>
        <p:spPr>
          <a:xfrm>
            <a:off x="3668458" y="2967990"/>
            <a:ext cx="51873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CADCD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You've worked through every scenario. The next real conversation is the one that counts — carry C.A.L.M. with you.</a:t>
            </a:r>
          </a:p>
        </p:txBody>
      </p:sp>
      <p:sp>
        <p:nvSpPr>
          <p:cNvPr id="29" name="Shape 5">
            <a:hlinkClick r:id="rId2" action="ppaction://hlinksldjump"/>
            <a:extLst>
              <a:ext uri="{FF2B5EF4-FFF2-40B4-BE49-F238E27FC236}">
                <a16:creationId xmlns:a16="http://schemas.microsoft.com/office/drawing/2014/main" id="{38489658-736A-D4E9-D64B-11034A05F4C5}"/>
              </a:ext>
            </a:extLst>
          </p:cNvPr>
          <p:cNvSpPr/>
          <p:nvPr/>
        </p:nvSpPr>
        <p:spPr>
          <a:xfrm>
            <a:off x="4998720" y="5595937"/>
            <a:ext cx="2194560" cy="54864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Restart Course</a:t>
            </a: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94433DCD-4762-2850-11CD-FDE0B3B97D0A}"/>
              </a:ext>
            </a:extLst>
          </p:cNvPr>
          <p:cNvSpPr/>
          <p:nvPr/>
        </p:nvSpPr>
        <p:spPr>
          <a:xfrm>
            <a:off x="5596890" y="719614"/>
            <a:ext cx="998220" cy="839152"/>
          </a:xfrm>
          <a:prstGeom prst="star5">
            <a:avLst/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 anchor="ctr" anchorCtr="1"/>
          <a:lstStyle/>
          <a:p>
            <a:pPr algn="ctr"/>
            <a:endParaRPr lang="en-US" sz="3600" b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A12E042F-517B-EFBB-6B73-AC63F1AFB9F0}"/>
              </a:ext>
            </a:extLst>
          </p:cNvPr>
          <p:cNvSpPr/>
          <p:nvPr/>
        </p:nvSpPr>
        <p:spPr>
          <a:xfrm>
            <a:off x="777621" y="403479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 anchor="ctr" anchorCtr="1"/>
          <a:lstStyle/>
          <a:p>
            <a:pPr algn="ctr"/>
            <a:r>
              <a:rPr lang="en-US" sz="1500" b="1" dirty="0">
                <a:solidFill>
                  <a:srgbClr val="E97132"/>
                </a:solidFill>
                <a:effectLst>
                  <a:outerShdw blurRad="50800" dist="50800" dir="5400000" sx="7000" sy="7000" algn="ctr" rotWithShape="0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</a:t>
            </a:r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0CA16CD2-31BA-A5E8-BEA6-04FCCD6A282F}"/>
              </a:ext>
            </a:extLst>
          </p:cNvPr>
          <p:cNvSpPr/>
          <p:nvPr/>
        </p:nvSpPr>
        <p:spPr>
          <a:xfrm>
            <a:off x="3497961" y="403479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 anchor="ctr" anchorCtr="1"/>
          <a:lstStyle/>
          <a:p>
            <a:r>
              <a:rPr lang="en-US" sz="1500" b="1" dirty="0">
                <a:solidFill>
                  <a:srgbClr val="E97132"/>
                </a:solidFill>
                <a:effectLst>
                  <a:outerShdw blurRad="50800" dist="50800" dir="5400000" sx="7000" sy="7000" algn="ctr" rotWithShape="0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Acknowledge</a:t>
            </a:r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14CE9926-73D0-3BA8-3A91-E00874EB62F7}"/>
              </a:ext>
            </a:extLst>
          </p:cNvPr>
          <p:cNvSpPr/>
          <p:nvPr/>
        </p:nvSpPr>
        <p:spPr>
          <a:xfrm>
            <a:off x="6262116" y="403479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 anchor="ctr" anchorCtr="1"/>
          <a:lstStyle/>
          <a:p>
            <a:r>
              <a:rPr lang="en-US" sz="1500" b="1" dirty="0">
                <a:solidFill>
                  <a:srgbClr val="E97132"/>
                </a:solidFill>
                <a:effectLst>
                  <a:outerShdw blurRad="50800" dist="50800" dir="5400000" sx="7000" sy="7000" algn="ctr" rotWithShape="0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Listen</a:t>
            </a:r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FF9FAA4B-BE1C-2404-9A60-B1A9C18191FD}"/>
              </a:ext>
            </a:extLst>
          </p:cNvPr>
          <p:cNvSpPr/>
          <p:nvPr/>
        </p:nvSpPr>
        <p:spPr>
          <a:xfrm>
            <a:off x="9026271" y="403479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 anchor="ctr" anchorCtr="1"/>
          <a:lstStyle/>
          <a:p>
            <a:r>
              <a:rPr lang="en-US" sz="1500" b="1" dirty="0">
                <a:solidFill>
                  <a:srgbClr val="E97132"/>
                </a:solidFill>
                <a:effectLst>
                  <a:outerShdw blurRad="50800" dist="50800" dir="5400000" sx="7000" sy="7000" algn="ctr" rotWithShape="0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Move Forward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E3970D-30F5-4661-E9AD-8AEFFD20C403}"/>
              </a:ext>
            </a:extLst>
          </p:cNvPr>
          <p:cNvSpPr/>
          <p:nvPr/>
        </p:nvSpPr>
        <p:spPr>
          <a:xfrm>
            <a:off x="3886200" y="2750819"/>
            <a:ext cx="4419600" cy="45719"/>
          </a:xfrm>
          <a:prstGeom prst="rect">
            <a:avLst/>
          </a:prstGeom>
          <a:solidFill>
            <a:srgbClr val="E97132"/>
          </a:solidFill>
          <a:ln>
            <a:solidFill>
              <a:srgbClr val="E971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84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2031</Words>
  <Application>Microsoft Office PowerPoint</Application>
  <PresentationFormat>Widescreen</PresentationFormat>
  <Paragraphs>249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McGladrey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Bhatia, Rimjhim</dc:creator>
  <cp:lastModifiedBy>Bhatia, Rimjhim</cp:lastModifiedBy>
  <cp:revision>2</cp:revision>
  <dcterms:created xsi:type="dcterms:W3CDTF">2026-08-04T20:05:14Z</dcterms:created>
  <dcterms:modified xsi:type="dcterms:W3CDTF">2026-08-04T23:18:09Z</dcterms:modified>
</cp:coreProperties>
</file>